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57C466-BB48-4399-99D4-51D3FA979031}">
  <a:tblStyle styleId="{6157C466-BB48-4399-99D4-51D3FA9790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slide" Target="slides/slide37.xml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46" Type="http://schemas.openxmlformats.org/officeDocument/2006/relationships/slide" Target="slides/slide39.xml"/><Relationship Id="rId23" Type="http://schemas.openxmlformats.org/officeDocument/2006/relationships/slide" Target="slides/slide16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slide" Target="slides/slide40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lexanderdyakonov.wordpress.com/2017/07/28/auc-roc-%D0%BF%D0%BB%D0%BE%D1%89%D0%B0%D0%B4%D1%8C-%D0%BF%D0%BE%D0%B4-%D0%BA%D1%80%D0%B8%D0%B2%D0%BE%D0%B9-%D0%BE%D1%88%D0%B8%D0%B1%D0%BE%D0%BA/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684e5b7f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c684e5b7f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1a40ac58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c1a40ac58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1a40ac5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c1a40ac5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1a40ac58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1a40ac58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684e5b7f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684e5b7f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20261176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c20261176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684e5b7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684e5b7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684e5b7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c684e5b7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1a40ac58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c1a40ac58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3d2294c49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3d2294c49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https://aclanthology.org/P96-1041.pdf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2026117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c2026117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2026117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c2026117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b9050c52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b9050c52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b9050c52e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b9050c52e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b9050c52e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b9050c52e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b9050c52e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b9050c52e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b9050c52e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b9050c52e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b9050c52e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b9050c52e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c1a40ac58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c1a40ac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c3d2294c49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c3d2294c49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c20261176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c20261176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 веса: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‘uniform’ : uniform weights. All points in each neighborhood are weighted equally.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‘distance’ : weight points by the inverse of their distance. in this case, closer neighbors of a query point will have a greater influence than neighbors which are further away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c1a40ac58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c1a40ac58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c684e5b7f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c684e5b7f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c1a40ac5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c1a40ac5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c2e8f41e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c2e8f41e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c6f0c3d96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c6f0c3d9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c67228001e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c67228001e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67228001e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c67228001e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c67228001e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c67228001e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c1a40ac58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c1a40ac5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https://alexanderdyakonov.wordpress.com/2017/07/28/auc-roc-%D0%BF%D0%BB%D0%BE%D1%89%D0%B0%D0%B4%D1%8C-%D0%BF%D0%BE%D0%B4-%D0%BA%D1%80%D0%B8%D0%B2%D0%BE%D0%B9-%D0%BE%D1%88%D0%B8%D0%B1%D0%BE%D0%BA/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c20261176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c20261176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c6c0b352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c6c0b352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c6c0b3522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c6c0b3522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c6c0b3522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c6c0b3522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c684e5b7f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c684e5b7f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https://alexanderdyakonov.wordpress.com/2017/07/28/auc-roc-%D0%BF%D0%BB%D0%BE%D1%89%D0%B0%D0%B4%D1%8C-%D0%BF%D0%BE%D0%B4-%D0%BA%D1%80%D0%B8%D0%B2%D0%BE%D0%B9-%D0%BE%D1%88%D0%B8%D0%B1%D0%BE%D0%BA/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c684e5b7f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c684e5b7f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c1a40ac5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c1a40ac5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ru"/>
              <a:t>y(x) = kx + 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ru"/>
              <a:t>y</a:t>
            </a:r>
            <a:r>
              <a:rPr lang="ru">
                <a:solidFill>
                  <a:schemeClr val="dk1"/>
                </a:solidFill>
              </a:rPr>
              <a:t>(x)</a:t>
            </a:r>
            <a:r>
              <a:rPr lang="ru"/>
              <a:t> = ax^2 + bx + 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ru"/>
              <a:t>f(x,y) = exp(-1 * ((x - x0)^2 +(y - y0)^2) / (2σ^2))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c1a40ac58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c1a40ac58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c20261176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c20261176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mathworks.com" TargetMode="External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cikit-learn.org/stable/modules/multiclass.html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hyperlink" Target="https://dzen.ru/a/Y1pBrTB4xh_qIcW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programminghistorian.org/en/lessons/logistic-regression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cikit-learn.org/stable/modules/naive_bayes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gif"/><Relationship Id="rId4" Type="http://schemas.openxmlformats.org/officeDocument/2006/relationships/hyperlink" Target="https://towardsdatascience.com/logistic-regression-explained-and-implemented-in-python-880955306060" TargetMode="External"/><Relationship Id="rId5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hyperlink" Target="https://habr.com/ru/companies/io/articles/265007/" TargetMode="External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hyperlink" Target="https://commons.wikimedia.org/wiki/File:Logistic-curve.svg#/media/File:Logistic-curve.sv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hyperlink" Target="https://scikit-learn.org/stable/auto_examples/neighbors/plot_classification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olab.research.google.com/drive/1uVGl2mOAyIkalQK9QV2bC-tRN3lmyIfn?usp=sharing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olab.research.google.com/drive/1QNKgcg4wSxgq8vmZ5cMxA3mWJiQIdDS4?usp=sharing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30.png"/><Relationship Id="rId6" Type="http://schemas.openxmlformats.org/officeDocument/2006/relationships/image" Target="../media/image17.png"/><Relationship Id="rId7" Type="http://schemas.openxmlformats.org/officeDocument/2006/relationships/hyperlink" Target="https://towardsdatascience.com/understanding-auc-roc-curve-68b2303cc9c5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Relationship Id="rId4" Type="http://schemas.openxmlformats.org/officeDocument/2006/relationships/hyperlink" Target="https://alexanderdyakonov.wordpress.com/2017/07/28/auc-roc-%D0%BF%D0%BB%D0%BE%D1%89%D0%B0%D0%B4%D1%8C-%D0%BF%D0%BE%D0%B4-%D0%BA%D1%80%D0%B8%D0%B2%D0%BE%D0%B9-%D0%BE%D1%88%D0%B8%D0%B1%D0%BE%D0%BA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Relationship Id="rId4" Type="http://schemas.openxmlformats.org/officeDocument/2006/relationships/hyperlink" Target="https://alexanderdyakonov.wordpress.com/2017/07/28/auc-roc-%D0%BF%D0%BB%D0%BE%D1%89%D0%B0%D0%B4%D1%8C-%D0%BF%D0%BE%D0%B4-%D0%BA%D1%80%D0%B8%D0%B2%D0%BE%D0%B9-%D0%BE%D1%88%D0%B8%D0%B1%D0%BE%D0%BA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www.statistics4u.info/fundstat_eng/cc_linvsnonlin.html" TargetMode="External"/><Relationship Id="rId4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colab.research.google.com/drive/17pIUOPvlWJDqqrqkPpxyAd-jTHTOlVyl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Классификация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классификации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Мультикласс, мультилейбл, мультиаутпут</a:t>
            </a:r>
            <a:endParaRPr/>
          </a:p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311700" y="1152475"/>
            <a:ext cx="8520600" cy="3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Напоминание из прошлой лекции: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3"/>
              </a:rPr>
              <a:t>www.mathworks.com</a:t>
            </a:r>
            <a:r>
              <a:rPr lang="ru" sz="9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112" name="Google Shape;11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0000" y="1807475"/>
            <a:ext cx="6104000" cy="21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Мультикласс, мультилейбл, мультиаутпут</a:t>
            </a:r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311700" y="1152475"/>
            <a:ext cx="8520600" cy="37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900">
                <a:solidFill>
                  <a:schemeClr val="dk1"/>
                </a:solidFill>
              </a:rPr>
              <a:t>Источник: </a:t>
            </a:r>
            <a:r>
              <a:rPr lang="ru" sz="900" u="sng">
                <a:solidFill>
                  <a:schemeClr val="hlink"/>
                </a:solidFill>
                <a:hlinkClick r:id="rId3"/>
              </a:rPr>
              <a:t>https://scikit-learn.org/stable/modules/multiclass.html</a:t>
            </a:r>
            <a:r>
              <a:rPr lang="ru" sz="900">
                <a:solidFill>
                  <a:schemeClr val="dk1"/>
                </a:solidFill>
              </a:rPr>
              <a:t>  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19" name="Google Shape;11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800" y="1208675"/>
            <a:ext cx="6505000" cy="31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Мультикласс, мультилейбл, мультиаутпут</a:t>
            </a:r>
            <a:endParaRPr/>
          </a:p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Multiclass: выберите один из n&gt;2 лейблов классов. Например: определите породу кошки.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Multilabel: присвойте каждому вхождению m лейблов из n возможных классов, где m &lt;= n. Например: определите породу кошки, но для метисов предскажите наиболее вероятные породы предков.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Multiclass-multioutput*: присвойте каждому вхождению n лейблов, каждый из которых может разделяться на m возможных классов. Например: предскажите породу и окрас кошки.</a:t>
            </a:r>
            <a:endParaRPr/>
          </a:p>
        </p:txBody>
      </p:sp>
      <p:pic>
        <p:nvPicPr>
          <p:cNvPr id="126" name="Google Shape;1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325" y="-72050"/>
            <a:ext cx="2190675" cy="14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9"/>
          <p:cNvSpPr txBox="1"/>
          <p:nvPr/>
        </p:nvSpPr>
        <p:spPr>
          <a:xfrm>
            <a:off x="569100" y="4568875"/>
            <a:ext cx="3537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Кошка: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https://dzen.ru/a/Y1pBrTB4xh_qIcWS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Перед началом работы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Подготовка: стратификация</a:t>
            </a:r>
            <a:endParaRPr/>
          </a:p>
        </p:txBody>
      </p:sp>
      <p:sp>
        <p:nvSpPr>
          <p:cNvPr id="138" name="Google Shape;1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Стратификация в машинном обучении - это разделение набора данных на выборки (тренировочную, валидационную, тестовую) таким образом, что во всех выборках </a:t>
            </a:r>
            <a:r>
              <a:rPr b="1" lang="ru"/>
              <a:t>соотношение</a:t>
            </a:r>
            <a:r>
              <a:rPr lang="ru"/>
              <a:t> классов остается одинаковым.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 sklearn производится с помощью встроенных классов и параметров (например, параметр stratify функции train_test_split).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Подготовка: баланс классов</a:t>
            </a:r>
            <a:endParaRPr/>
          </a:p>
        </p:txBody>
      </p:sp>
      <p:sp>
        <p:nvSpPr>
          <p:cNvPr id="144" name="Google Shape;14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Если классы не сбалансированы, модель может склоняться к превалирующему классу при предсказании. Этого можно избежать, либо выкинув лишние примеры из большего класса, либо присвоив классам веса: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На картинке класс “1” составляет большую часть данных, поэтому ему присвоен меньший вес.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В sklearn веса можно вычислить, например, с помощью функции compute_class_weight, а потом передать в параметр class_weight классификатора; либо использовать параметр </a:t>
            </a:r>
            <a:r>
              <a:rPr lang="ru">
                <a:solidFill>
                  <a:schemeClr val="dk1"/>
                </a:solidFill>
              </a:rPr>
              <a:t>class_weight, встроенный во многие модели.</a:t>
            </a:r>
            <a:endParaRPr/>
          </a:p>
        </p:txBody>
      </p:sp>
      <p:pic>
        <p:nvPicPr>
          <p:cNvPr id="145" name="Google Shape;1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363" y="2184675"/>
            <a:ext cx="5747273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2"/>
          <p:cNvSpPr txBox="1"/>
          <p:nvPr/>
        </p:nvSpPr>
        <p:spPr>
          <a:xfrm>
            <a:off x="482650" y="4599925"/>
            <a:ext cx="57474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https://programminghistorian.org/en/lessons/logistic-regression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классификаторов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Наивный Байес</a:t>
            </a:r>
            <a:endParaRPr/>
          </a:p>
        </p:txBody>
      </p:sp>
      <p:sp>
        <p:nvSpPr>
          <p:cNvPr id="157" name="Google Shape;15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Основан на теореме Байеса: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ru"/>
              <a:t>Называется наивным, потому что мы предполагаем, что все признаки </a:t>
            </a:r>
            <a:r>
              <a:rPr b="1" lang="ru"/>
              <a:t>в равной степени</a:t>
            </a:r>
            <a:r>
              <a:rPr lang="ru"/>
              <a:t> и </a:t>
            </a:r>
            <a:r>
              <a:rPr b="1" lang="ru"/>
              <a:t>независимо друг от друга</a:t>
            </a:r>
            <a:r>
              <a:rPr lang="ru"/>
              <a:t> влияют на зависимую переменную.</a:t>
            </a:r>
            <a:endParaRPr/>
          </a:p>
        </p:txBody>
      </p:sp>
      <p:cxnSp>
        <p:nvCxnSpPr>
          <p:cNvPr id="158" name="Google Shape;158;p34"/>
          <p:cNvCxnSpPr/>
          <p:nvPr/>
        </p:nvCxnSpPr>
        <p:spPr>
          <a:xfrm flipH="1" rot="10800000">
            <a:off x="3402600" y="2631025"/>
            <a:ext cx="208800" cy="3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34"/>
          <p:cNvSpPr txBox="1"/>
          <p:nvPr/>
        </p:nvSpPr>
        <p:spPr>
          <a:xfrm>
            <a:off x="2120225" y="2955325"/>
            <a:ext cx="2641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Вероятность, что произойдет А, если уже произошло В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160" name="Google Shape;160;p34"/>
          <p:cNvCxnSpPr/>
          <p:nvPr/>
        </p:nvCxnSpPr>
        <p:spPr>
          <a:xfrm>
            <a:off x="4967275" y="1872175"/>
            <a:ext cx="72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34"/>
          <p:cNvSpPr txBox="1"/>
          <p:nvPr/>
        </p:nvSpPr>
        <p:spPr>
          <a:xfrm>
            <a:off x="4114750" y="1584025"/>
            <a:ext cx="1815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Вероятность В при условии А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62" name="Google Shape;162;p34" title="[0,0,0,&quot;https://www.codecogs.com/eqnedit.php?latex=%20P(A%7CB)%20%3D%20%5Cfrac%7BP(B%7CA)*P(A)%7D%7BP(B)%7D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388" y="2146275"/>
            <a:ext cx="2921326" cy="6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Сглаживание</a:t>
            </a:r>
            <a:endParaRPr/>
          </a:p>
        </p:txBody>
      </p:sp>
      <p:sp>
        <p:nvSpPr>
          <p:cNvPr id="168" name="Google Shape;16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 если P(B) = 0, мы же будем делить на ноль?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На самом деле нет. В реальном мире мы бы применили </a:t>
            </a:r>
            <a:r>
              <a:rPr b="1" lang="ru"/>
              <a:t>сглаживание Лапласа </a:t>
            </a:r>
            <a:r>
              <a:rPr lang="ru"/>
              <a:t>(additive smoothing/Laplace smoothing)</a:t>
            </a:r>
            <a:r>
              <a:rPr lang="ru"/>
              <a:t>, добавив ко всем вероятностям маленькое константное значение.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 sklearn этого делать специально не требуется (параметр уже добавлен в модель), но можно подобрать значение сглаживания, оптимальное для классификации.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NB: реализации в sklearn</a:t>
            </a:r>
            <a:endParaRPr/>
          </a:p>
        </p:txBody>
      </p:sp>
      <p:sp>
        <p:nvSpPr>
          <p:cNvPr id="174" name="Google Shape;17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GaussianNB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Для нормально распределенных непрерывных признаков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MultinomialNB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Для полиномиального распределения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BernoulliNB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Для многомерного распределения Бернулли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CategoricalNB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ru"/>
              <a:t>Для категориального распределения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NB: реализации в sklearn</a:t>
            </a:r>
            <a:endParaRPr/>
          </a:p>
        </p:txBody>
      </p:sp>
      <p:sp>
        <p:nvSpPr>
          <p:cNvPr id="180" name="Google Shape;180;p37"/>
          <p:cNvSpPr txBox="1"/>
          <p:nvPr>
            <p:ph idx="1" type="body"/>
          </p:nvPr>
        </p:nvSpPr>
        <p:spPr>
          <a:xfrm>
            <a:off x="311700" y="1152475"/>
            <a:ext cx="8520600" cy="3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GaussianNB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Подходит, если у вас числовые признаки, которые могут быть нормально распределены (рост, вес…)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MultinomialNB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Если ваши признаки выражают количество появлений разных классов (например, частотные вектора слов)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BernoulliNB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У вас может быть много признаков, но каждый из них выражен булевой переменной (0/1)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CategoricalNB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У вас категориальные признаки (порода кошки, цвет кошки)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Больше: </a:t>
            </a:r>
            <a:r>
              <a:rPr lang="ru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https://scikit-learn.org/stable/modules/naive_bayes.html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Логистическая регрессия</a:t>
            </a:r>
            <a:endParaRPr/>
          </a:p>
        </p:txBody>
      </p:sp>
      <p:sp>
        <p:nvSpPr>
          <p:cNvPr id="186" name="Google Shape;18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sklearn это линейная модель для классификации, которая возвращает вероятности каждого класса.</a:t>
            </a:r>
            <a:endParaRPr/>
          </a:p>
        </p:txBody>
      </p:sp>
      <p:sp>
        <p:nvSpPr>
          <p:cNvPr id="187" name="Google Shape;187;p38"/>
          <p:cNvSpPr txBox="1"/>
          <p:nvPr/>
        </p:nvSpPr>
        <p:spPr>
          <a:xfrm>
            <a:off x="518575" y="3047600"/>
            <a:ext cx="34734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Здесь w - коэффициенты/веса (внимание: на картинке они обозначены буквой b), w</a:t>
            </a:r>
            <a:r>
              <a:rPr baseline="-25000" lang="ru" sz="1300">
                <a:solidFill>
                  <a:schemeClr val="dk2"/>
                </a:solidFill>
              </a:rPr>
              <a:t>0</a:t>
            </a:r>
            <a:r>
              <a:rPr lang="ru" sz="1300">
                <a:solidFill>
                  <a:schemeClr val="dk2"/>
                </a:solidFill>
              </a:rPr>
              <a:t> - константа, x</a:t>
            </a:r>
            <a:r>
              <a:rPr baseline="-25000" lang="ru" sz="1300">
                <a:solidFill>
                  <a:schemeClr val="dk2"/>
                </a:solidFill>
              </a:rPr>
              <a:t>1</a:t>
            </a:r>
            <a:r>
              <a:rPr lang="ru" sz="1300">
                <a:solidFill>
                  <a:schemeClr val="dk2"/>
                </a:solidFill>
              </a:rPr>
              <a:t>…x</a:t>
            </a:r>
            <a:r>
              <a:rPr baseline="-25000" lang="ru" sz="1300">
                <a:solidFill>
                  <a:schemeClr val="dk2"/>
                </a:solidFill>
              </a:rPr>
              <a:t>n</a:t>
            </a:r>
            <a:r>
              <a:rPr lang="ru" sz="1300">
                <a:solidFill>
                  <a:schemeClr val="dk2"/>
                </a:solidFill>
              </a:rPr>
              <a:t> - наши признаки, e - экспонента.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Почему экспонента? Потому что экспонента - это основание натурального логарифма.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88" name="Google Shape;1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375" y="1744325"/>
            <a:ext cx="4200626" cy="252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8"/>
          <p:cNvSpPr txBox="1"/>
          <p:nvPr/>
        </p:nvSpPr>
        <p:spPr>
          <a:xfrm>
            <a:off x="4456750" y="4321275"/>
            <a:ext cx="43728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https://towardsdatascience.com/logistic-regression-explained-and-implemented-in-python-880955306060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90" name="Google Shape;190;p38" title="[0,0,0,&quot;https://www.codecogs.com/eqnedit.php?latex=%20P(Y%3D1%7Cx_1%2C%20x_2%2C%20%5B...%5D%20x_n)%20%3D%20%5Cfrac%7Be%5E%7B(w_0%20%2B%20w_1%20x_1%20%2B%20w_2%20x_2%20%2B%20%5B...%5D%20%2B%20w_n%20x_n)%7D%7D%7B1%2Be%5E%7B(w_0%20%2B%20w_1%20x_1%20%2B%20w_2%20x_2%20%2B%20%5B...%5D%20%2B%20w_n%20x_n)%7D%7D%20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075" y="2259075"/>
            <a:ext cx="4262298" cy="4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Немного о том, как это работает</a:t>
            </a:r>
            <a:endParaRPr/>
          </a:p>
        </p:txBody>
      </p:sp>
      <p:sp>
        <p:nvSpPr>
          <p:cNvPr id="196" name="Google Shape;196;p3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Нам необходимо разделить точки в пространстве гиперплоскостью.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/>
              <a:t>Уравнение плоскости будет иметь вид: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/>
              <a:t>Здесь w - параметры (веса), а x - наши признаки. По значению весов (коэффициентов) можно понять важность того или иного признака.</a:t>
            </a:r>
            <a:endParaRPr sz="1800"/>
          </a:p>
        </p:txBody>
      </p:sp>
      <p:pic>
        <p:nvPicPr>
          <p:cNvPr id="197" name="Google Shape;19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3125" y="1274950"/>
            <a:ext cx="3207450" cy="306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9"/>
          <p:cNvSpPr txBox="1"/>
          <p:nvPr/>
        </p:nvSpPr>
        <p:spPr>
          <a:xfrm>
            <a:off x="5071000" y="4500925"/>
            <a:ext cx="3911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https://habr.com/ru/companies/io/articles/265007/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99" name="Google Shape;199;p39" title="[0,0,0,&quot;https://www.codecogs.com/eqnedit.php?latex=%20w_0%20%2B%20w_1%20x_1%20%2B%20w_2%20x_2%20%2B%20%5B...%5D%20%2B%20w_n%20x_n%20%3D%200%20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275" y="2801925"/>
            <a:ext cx="4260302" cy="279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Немного о том, как это работает</a:t>
            </a:r>
            <a:endParaRPr/>
          </a:p>
        </p:txBody>
      </p:sp>
      <p:sp>
        <p:nvSpPr>
          <p:cNvPr id="205" name="Google Shape;20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Нам нужно найти вероятность положительного класса, т.е. число от 0 до 1. Но наше выражение с предыдущего слайда имеет пределы [-∞;∞]. Нам нужно, чтобы обе части выражения имели одинаковые пределы. Для этого нам понадобится формула отношения шансов и натуральный логарифм.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6" name="Google Shape;206;p40" title="[0,0,0,&quot;https://www.codecogs.com/eqnedit.php?latex=%20%5Cln(%5Cfrac%7Bp%7D%7B1-p%7D)%20%3D%20w_0%20%2B%20w_1%20x_1%20%2B%20w_2%20x_2%20%2B%20%5B...%5D%20%2B%20w_n%20x_n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50" y="2723025"/>
            <a:ext cx="3964647" cy="42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40"/>
          <p:cNvCxnSpPr/>
          <p:nvPr/>
        </p:nvCxnSpPr>
        <p:spPr>
          <a:xfrm rot="10800000">
            <a:off x="897700" y="3192050"/>
            <a:ext cx="0" cy="32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40"/>
          <p:cNvSpPr txBox="1"/>
          <p:nvPr/>
        </p:nvSpPr>
        <p:spPr>
          <a:xfrm>
            <a:off x="277300" y="3463675"/>
            <a:ext cx="8399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Это формула отношения шансов. Сама по себе она имеет пределы от 0 до бесконечности (</a:t>
            </a:r>
            <a:r>
              <a:rPr lang="ru" sz="1500">
                <a:solidFill>
                  <a:schemeClr val="dk1"/>
                </a:solidFill>
              </a:rPr>
              <a:t>[0;∞]</a:t>
            </a:r>
            <a:r>
              <a:rPr lang="ru" sz="1500">
                <a:solidFill>
                  <a:schemeClr val="dk2"/>
                </a:solidFill>
              </a:rPr>
              <a:t>). Мы применили логарифм к отношению шансов, и теперь оно имеет </a:t>
            </a:r>
            <a:r>
              <a:rPr lang="ru" sz="1500">
                <a:solidFill>
                  <a:schemeClr val="dk1"/>
                </a:solidFill>
              </a:rPr>
              <a:t>пределы [-∞;∞].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Немного о том, как это работает</a:t>
            </a:r>
            <a:endParaRPr/>
          </a:p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Теперь перепишем это выражение и найдем вероятность p: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Зависимость вероятности от отношения шансов OR рассчитывается по следующей формуле: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5" name="Google Shape;215;p41" title="[0,0,0,&quot;https://www.codecogs.com/eqnedit.php?latex=%20%5Cln(%5Cfrac%7Bp%7D%7B1-p%7D)%20%3D%20w_0%20%2B%20w_1%20x_1%20%2B%20w_2%20x_2%20%2B%20%5B...%5D%20%2B%20w_n%20x_n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675" y="1702550"/>
            <a:ext cx="3964647" cy="4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1" title="[0,0,0,&quot;https://www.codecogs.com/eqnedit.php?latex=%20%5Cfrac%7Bp%7D%7Bp-1%7D%20%3D%20e%5E%7Bw_0%20%2B%20w_1%20x_1%20%2B%20w_2%20x_2%20%2B%20%5B...%5D%20%2B%20w_n%20x_n%7D%20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687" y="2367919"/>
            <a:ext cx="3177849" cy="48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1" title="[0,0,0,&quot;https://www.codecogs.com/eqnedit.php?latex=%20P%20%3D%20%5Cfrac%7BOR%7D%7B1%20%2B%20OR%7D%20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675" y="3893600"/>
            <a:ext cx="1212482" cy="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Немного о том, как это работает</a:t>
            </a:r>
            <a:endParaRPr/>
          </a:p>
        </p:txBody>
      </p:sp>
      <p:sp>
        <p:nvSpPr>
          <p:cNvPr id="223" name="Google Shape;223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Таким образом: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4" name="Google Shape;224;p42" title="[0,0,0,&quot;https://www.codecogs.com/eqnedit.php?latex=%20p%20%3D%20%5Cfrac%7B1%7D%7B1%2Be%5E%7B-(w_0%20%2B%20w_1%20x_1%20%2B%20w_2%20x_2%20%2B%20%5B...%5D%20%2B%20w_n%20x_n)%7D%7D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125" y="3331439"/>
            <a:ext cx="3396373" cy="501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2"/>
          <p:cNvSpPr txBox="1"/>
          <p:nvPr/>
        </p:nvSpPr>
        <p:spPr>
          <a:xfrm>
            <a:off x="5553775" y="1757150"/>
            <a:ext cx="30870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Похоже на эту формулу с первого слайда?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6" name="Google Shape;226;p42"/>
          <p:cNvCxnSpPr/>
          <p:nvPr/>
        </p:nvCxnSpPr>
        <p:spPr>
          <a:xfrm>
            <a:off x="3940775" y="2656025"/>
            <a:ext cx="116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42"/>
          <p:cNvCxnSpPr/>
          <p:nvPr/>
        </p:nvCxnSpPr>
        <p:spPr>
          <a:xfrm>
            <a:off x="3934038" y="3582025"/>
            <a:ext cx="110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42"/>
          <p:cNvSpPr txBox="1"/>
          <p:nvPr/>
        </p:nvSpPr>
        <p:spPr>
          <a:xfrm>
            <a:off x="5261775" y="3334750"/>
            <a:ext cx="34218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</a:rPr>
              <a:t>А это похоже на сигмоидную функцию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29" name="Google Shape;229;p42" title="[0,0,0,&quot;https://www.codecogs.com/eqnedit.php?latex=%20p%20%3D%20%5Cfrac%7Be%5E%7B(w_0%20%2B%20w_1%20x_1%20%2B%20w_2%20x_2%20%2B%20%5B...%5D%20%2B%20w_n%20x_n)%7D%7D%7B1%2Be%5E%7B(w_0%20%2B%20w_1%20x_1%20%2B%20w_2%20x_2%20%2B%20%5B...%5D%20%2B%20w_n%20x_n)%7D%7D%20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340300"/>
            <a:ext cx="339636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2" title="[0,0,0,&quot;https://www.codecogs.com/eqnedit.php?latex=%20P(Y%3D1%7Cx_1%2C%20%5B...%5D)%20%3D%20%5Cfrac%7Be%5E%7B(w_0%20%2B%20w_1%20x_1%20%2B%20%5B...%5D)%7D%7D%7B1%2Be%5E%7B(w_0%20%2B%20w_1%20x_1%20%2B%20%5B...%5D)%7D%7D%20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5400" y="2415538"/>
            <a:ext cx="3292953" cy="480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Немного о том, как это работает</a:t>
            </a:r>
            <a:endParaRPr/>
          </a:p>
        </p:txBody>
      </p:sp>
      <p:sp>
        <p:nvSpPr>
          <p:cNvPr id="236" name="Google Shape;236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В итоге мы получили формулу, очень похожую на сигмоидную функцию: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/>
              <a:t>Сигмоида принимает значения от 0 до 1 и часто применяется в алгоритмах классификации, в том числе в нейронных сетях.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43" title="[0,0,0,&quot;https://www.codecogs.com/eqnedit.php?latex=%20F(x)%20%3D%20%5Cfrac%7B1%7D%7B1%20%2B%20e%5E%7B-x%7D%7D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50" y="2050100"/>
            <a:ext cx="180187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0" y="1210176"/>
            <a:ext cx="3999902" cy="266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3"/>
          <p:cNvSpPr txBox="1"/>
          <p:nvPr/>
        </p:nvSpPr>
        <p:spPr>
          <a:xfrm>
            <a:off x="4882150" y="4291050"/>
            <a:ext cx="39042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5"/>
              </a:rPr>
              <a:t>https://commons.wikimedia.org/wiki/File:Logistic-curve.svg#/media/File:Logistic-curve.svg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 ближайших соседей</a:t>
            </a:r>
            <a:endParaRPr/>
          </a:p>
        </p:txBody>
      </p:sp>
      <p:sp>
        <p:nvSpPr>
          <p:cNvPr id="245" name="Google Shape;24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 многомерном пространстве существует множество векторов признаков X</a:t>
            </a:r>
            <a:r>
              <a:rPr baseline="-25000" lang="ru"/>
              <a:t>1…i</a:t>
            </a:r>
            <a:r>
              <a:rPr lang="ru"/>
              <a:t>. Каждый из них относится к одному из N классов. Предполагается, что вектора одного класса будут располагаться рядом. Когда нам нужно определить, к какому классу относится каждый новый вектор, мы проецируем его в то же пространство и смотрим, кто его соседи.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k nearest neighbors (kNN) может предсказывать как непрерывные, так и категориальные переменные, т.е. может использоваться как для регрессии, так и для классификации.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К ближайших соседей</a:t>
            </a:r>
            <a:endParaRPr/>
          </a:p>
        </p:txBody>
      </p:sp>
      <p:sp>
        <p:nvSpPr>
          <p:cNvPr id="251" name="Google Shape;251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Простое решение: каждый новый вектор сравниваете со всем набором тренировочных векторов, каждый раз вычисляя расстояние между векторами. Затем сортируем вектора по расстоянию от нового и берем k ближайших.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При регрессии: значением функции будет среднее от ближайших векторов;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При классификации: модель выдаст тот класс, который преобладает среди k ближайших векторов.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К ближайших соседей</a:t>
            </a:r>
            <a:endParaRPr/>
          </a:p>
        </p:txBody>
      </p:sp>
      <p:pic>
        <p:nvPicPr>
          <p:cNvPr id="257" name="Google Shape;25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150" y="1198538"/>
            <a:ext cx="7978251" cy="33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6"/>
          <p:cNvSpPr txBox="1"/>
          <p:nvPr/>
        </p:nvSpPr>
        <p:spPr>
          <a:xfrm>
            <a:off x="302550" y="4617625"/>
            <a:ext cx="81258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kNN-классификация на датасете с ирисами с разными весами.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https://scikit-learn.org/stable/auto_examples/neighbors/plot_classification.html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Внимание: неоднозначная терминология</a:t>
            </a:r>
            <a:endParaRPr/>
          </a:p>
        </p:txBody>
      </p:sp>
      <p:sp>
        <p:nvSpPr>
          <p:cNvPr id="264" name="Google Shape;26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LDA != LDA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Linear Discriminant Analysis - supervised алгоритм, который можно использовать для снижения размерности и классификации. Latent Dirichlet Allocation - </a:t>
            </a:r>
            <a:r>
              <a:rPr lang="ru"/>
              <a:t>unsupervised алгоритм, может использоваться для выделения тем в неаннотированных данных.</a:t>
            </a:r>
            <a:r>
              <a:rPr lang="ru"/>
              <a:t>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kNN != k-means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В отличие от К ближайших соседей, К средних - </a:t>
            </a:r>
            <a:r>
              <a:rPr lang="ru">
                <a:solidFill>
                  <a:schemeClr val="dk1"/>
                </a:solidFill>
              </a:rPr>
              <a:t>unsupervised алгоритм, часто использующийся для кластеризации.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Decision trees != Random Forest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ru"/>
              <a:t>Деревья принятия решений - это семейство алгоритмов классификации и регрессии. Рандомный лес тоже основан на древесном алгоритме, но используется для ансамблевого обучения.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оценки качества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качества классификации</a:t>
            </a:r>
            <a:endParaRPr/>
          </a:p>
        </p:txBody>
      </p:sp>
      <p:graphicFrame>
        <p:nvGraphicFramePr>
          <p:cNvPr id="275" name="Google Shape;275;p49"/>
          <p:cNvGraphicFramePr/>
          <p:nvPr/>
        </p:nvGraphicFramePr>
        <p:xfrm>
          <a:off x="441050" y="183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{6157C466-BB48-4399-99D4-51D3FA979031}</a:tableStyleId>
              </a:tblPr>
              <a:tblGrid>
                <a:gridCol w="957225"/>
                <a:gridCol w="923450"/>
                <a:gridCol w="1353475"/>
                <a:gridCol w="1346575"/>
              </a:tblGrid>
              <a:tr h="404925">
                <a:tc gridSpan="2"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Confusion matrix</a:t>
                      </a:r>
                      <a:endParaRPr b="1"/>
                    </a:p>
                  </a:txBody>
                  <a:tcPr marT="91425" marB="91425" marR="91425" marL="91425"/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True labels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404925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9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Predicted labels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True positive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False positive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499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False negative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True negative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06666"/>
                    </a:solidFill>
                  </a:tcPr>
                </a:tc>
              </a:tr>
            </a:tbl>
          </a:graphicData>
        </a:graphic>
      </p:graphicFrame>
      <p:pic>
        <p:nvPicPr>
          <p:cNvPr id="276" name="Google Shape;2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225" y="1835350"/>
            <a:ext cx="3486150" cy="1714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49"/>
          <p:cNvCxnSpPr/>
          <p:nvPr/>
        </p:nvCxnSpPr>
        <p:spPr>
          <a:xfrm>
            <a:off x="6577050" y="2125125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49"/>
          <p:cNvCxnSpPr/>
          <p:nvPr/>
        </p:nvCxnSpPr>
        <p:spPr>
          <a:xfrm>
            <a:off x="6340450" y="2378375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49"/>
          <p:cNvCxnSpPr/>
          <p:nvPr/>
        </p:nvCxnSpPr>
        <p:spPr>
          <a:xfrm>
            <a:off x="8264975" y="2125125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49"/>
          <p:cNvCxnSpPr/>
          <p:nvPr/>
        </p:nvCxnSpPr>
        <p:spPr>
          <a:xfrm>
            <a:off x="8028375" y="2349550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49"/>
          <p:cNvCxnSpPr/>
          <p:nvPr/>
        </p:nvCxnSpPr>
        <p:spPr>
          <a:xfrm>
            <a:off x="7273100" y="2645200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49"/>
          <p:cNvCxnSpPr/>
          <p:nvPr/>
        </p:nvCxnSpPr>
        <p:spPr>
          <a:xfrm>
            <a:off x="6843750" y="2912850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49"/>
          <p:cNvCxnSpPr/>
          <p:nvPr/>
        </p:nvCxnSpPr>
        <p:spPr>
          <a:xfrm>
            <a:off x="6807575" y="2370050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9FC5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49"/>
          <p:cNvCxnSpPr/>
          <p:nvPr/>
        </p:nvCxnSpPr>
        <p:spPr>
          <a:xfrm>
            <a:off x="7327350" y="2912850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9FC5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9"/>
          <p:cNvCxnSpPr/>
          <p:nvPr/>
        </p:nvCxnSpPr>
        <p:spPr>
          <a:xfrm flipH="1" rot="10800000">
            <a:off x="8457250" y="2362850"/>
            <a:ext cx="280800" cy="7200"/>
          </a:xfrm>
          <a:prstGeom prst="straightConnector1">
            <a:avLst/>
          </a:prstGeom>
          <a:noFill/>
          <a:ln cap="flat" cmpd="sng" w="38100">
            <a:solidFill>
              <a:srgbClr val="FFE5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9"/>
          <p:cNvCxnSpPr/>
          <p:nvPr/>
        </p:nvCxnSpPr>
        <p:spPr>
          <a:xfrm flipH="1" rot="10800000">
            <a:off x="7747575" y="2912850"/>
            <a:ext cx="280800" cy="7200"/>
          </a:xfrm>
          <a:prstGeom prst="straightConnector1">
            <a:avLst/>
          </a:prstGeom>
          <a:noFill/>
          <a:ln cap="flat" cmpd="sng" w="38100">
            <a:solidFill>
              <a:srgbClr val="FFE5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49"/>
          <p:cNvCxnSpPr/>
          <p:nvPr/>
        </p:nvCxnSpPr>
        <p:spPr>
          <a:xfrm>
            <a:off x="8205100" y="2939150"/>
            <a:ext cx="259500" cy="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49"/>
          <p:cNvCxnSpPr/>
          <p:nvPr/>
        </p:nvCxnSpPr>
        <p:spPr>
          <a:xfrm>
            <a:off x="7758225" y="2645200"/>
            <a:ext cx="259500" cy="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49"/>
          <p:cNvSpPr txBox="1"/>
          <p:nvPr/>
        </p:nvSpPr>
        <p:spPr>
          <a:xfrm>
            <a:off x="5314225" y="4134975"/>
            <a:ext cx="3536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Seol, Da &amp; Choi, Jeong &amp; Kim, Chan &amp; Hong, Sang. (2023). Alleviating Class-Imbalance Data of Semiconductor Equipment Anomaly Detection Study. Electronics. 12. 585. 10.3390/electronics12030585.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F-мера, а не accuracy?</a:t>
            </a:r>
            <a:endParaRPr/>
          </a:p>
        </p:txBody>
      </p:sp>
      <p:sp>
        <p:nvSpPr>
          <p:cNvPr id="295" name="Google Shape;295;p50"/>
          <p:cNvSpPr txBox="1"/>
          <p:nvPr>
            <p:ph idx="1" type="body"/>
          </p:nvPr>
        </p:nvSpPr>
        <p:spPr>
          <a:xfrm>
            <a:off x="311700" y="1152475"/>
            <a:ext cx="85206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Accuracy не очень хорошо работает для несбалансированных классов. Например, </a:t>
            </a:r>
            <a:r>
              <a:rPr lang="ru"/>
              <a:t>имеется 100 тестовых образцов, 90 из которых принадлежат классу 1, а 10 - классу 0. Модель предсказывает, что все 100 образцов принадлежат классу 1. Таким образом, </a:t>
            </a:r>
            <a:r>
              <a:rPr lang="ru">
                <a:solidFill>
                  <a:schemeClr val="dk1"/>
                </a:solidFill>
              </a:rPr>
              <a:t>accuracy = 90/100 = 0.9, что на самом деле неприемлемо.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F-мера, как гармоническое среднее, будет близка к нулю, когда хотя бы один из аргументов (точность или полнота) близок к нулю. Рассмотрим, например, случай, когда в y_true 50 нулей и 50 единиц, а в y_pred - 20 единиц и 80 нулей, но все 20 единиц предсказаны верно. Это даст нам precision = 1, но recall всего лишь 0.4. F-мера при этом будет равна 0.57, а accuracy = 0.7.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Ноутбук про значения accuracy и f1-score на несбалансированных данных: </a:t>
            </a:r>
            <a:r>
              <a:rPr lang="ru" u="sng">
                <a:solidFill>
                  <a:schemeClr val="hlink"/>
                </a:solidFill>
                <a:hlinkClick r:id="rId3"/>
              </a:rPr>
              <a:t>https://colab.research.google.com/drive/1uVGl2mOAyIkalQK9QV2bC-tRN3lmyIfn?usp=sharing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Микро-, макро-, взвешенное усреднение</a:t>
            </a:r>
            <a:endParaRPr/>
          </a:p>
        </p:txBody>
      </p:sp>
      <p:pic>
        <p:nvPicPr>
          <p:cNvPr id="307" name="Google Shape;30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238" y="1552575"/>
            <a:ext cx="5343525" cy="2038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52"/>
          <p:cNvCxnSpPr/>
          <p:nvPr/>
        </p:nvCxnSpPr>
        <p:spPr>
          <a:xfrm>
            <a:off x="1469575" y="2946350"/>
            <a:ext cx="713100" cy="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52"/>
          <p:cNvCxnSpPr/>
          <p:nvPr/>
        </p:nvCxnSpPr>
        <p:spPr>
          <a:xfrm>
            <a:off x="1404725" y="3104825"/>
            <a:ext cx="511500" cy="20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52"/>
          <p:cNvSpPr txBox="1"/>
          <p:nvPr/>
        </p:nvSpPr>
        <p:spPr>
          <a:xfrm>
            <a:off x="958075" y="2706800"/>
            <a:ext cx="5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??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М</a:t>
            </a:r>
            <a:r>
              <a:rPr lang="ru"/>
              <a:t>икро-, макро-, взвешенное усреднение</a:t>
            </a:r>
            <a:endParaRPr/>
          </a:p>
        </p:txBody>
      </p:sp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 примере точности: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Precision = true_positive / (true_positive + false_positive)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Микроусреднение: считаем среднее количество TP и </a:t>
            </a:r>
            <a:r>
              <a:rPr lang="ru"/>
              <a:t>FP по всем классам. Эти числа подставляем в формулу </a:t>
            </a:r>
            <a:r>
              <a:rPr lang="ru">
                <a:solidFill>
                  <a:schemeClr val="dk1"/>
                </a:solidFill>
              </a:rPr>
              <a:t>precision;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Макроусреднение: считаем точность по всем классам, усредняем;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Взвешенное усреднение: макроусреднение, но каждое значение точности домножается на вес класса (отношение числа примеров для этого класса к числу всех примеров в выборке).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Тетрадка с примером: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https://colab.research.google.com/drive/1QNKgcg4wSxgq8vmZ5cMxA3mWJiQIdDS4?usp=sharing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ROC curve</a:t>
            </a:r>
            <a:endParaRPr/>
          </a:p>
        </p:txBody>
      </p:sp>
      <p:sp>
        <p:nvSpPr>
          <p:cNvPr id="327" name="Google Shape;327;p55"/>
          <p:cNvSpPr txBox="1"/>
          <p:nvPr>
            <p:ph idx="1" type="body"/>
          </p:nvPr>
        </p:nvSpPr>
        <p:spPr>
          <a:xfrm>
            <a:off x="311700" y="1138050"/>
            <a:ext cx="8520600" cy="38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ROC = receiver operating curve или кривая ошибок. Отражает отношение между чувствительностью алгоритма классификации (true positive rate) и его специфичностью (false positive rate).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ru"/>
              <a:t>Классификаторы выдают вероятности принадлежности элемента к какому-либо классу. Чувствительность и специфичность будут отличаться в зависимости от того, какой порог вероятности мы возьмем. Обычно берется порог &gt;= 0.5. Идеальный классификатор, который всегда прав, при любом пороге будет выдавать TPR = 1. Кривая ошибок отражает зависимость TPR и FPR от выбранного порога вероятности.</a:t>
            </a:r>
            <a:endParaRPr/>
          </a:p>
        </p:txBody>
      </p:sp>
      <p:pic>
        <p:nvPicPr>
          <p:cNvPr id="328" name="Google Shape;328;p55" title="[0,0,0,&quot;https://www.codecogs.com/eqnedit.php?latex=%20TPR%20%3D%20%5Cfrac%7BTP%7D%7BTP%20%2B%20FN%7D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250" y="2254775"/>
            <a:ext cx="1422075" cy="3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5" title="[0,0,0,&quot;https://www.codecogs.com/eqnedit.php?latex=%20FPR%20%3D%20%5Cfrac%7BFP%7D%7BFP%20%2B%20TN%7D%20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254775"/>
            <a:ext cx="1422075" cy="377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ROC curve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75" y="1152475"/>
            <a:ext cx="2075125" cy="18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1850" y="1152487"/>
            <a:ext cx="2075125" cy="1887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7025" y="1152475"/>
            <a:ext cx="2075125" cy="18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2195" y="1152475"/>
            <a:ext cx="2075125" cy="188751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6"/>
          <p:cNvSpPr txBox="1"/>
          <p:nvPr/>
        </p:nvSpPr>
        <p:spPr>
          <a:xfrm>
            <a:off x="389000" y="4588800"/>
            <a:ext cx="52227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Картинки: </a:t>
            </a:r>
            <a:r>
              <a:rPr lang="ru" sz="900" u="sng">
                <a:solidFill>
                  <a:schemeClr val="hlink"/>
                </a:solidFill>
                <a:hlinkClick r:id="rId7"/>
              </a:rPr>
              <a:t>https://towardsdatascience.com/understanding-auc-roc-curve-68b2303cc9c5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ROC curve - вычисление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таблице 1 представлены оценки вероятности, выданные классификатором (“оценка”), и истинные значения классов (“класс”). В таблице 2 все столбцы упорядочены по убыванию оценок. В таблице 3 представлены округленные значения вероятностей с порогом &gt; 0.25.</a:t>
            </a:r>
            <a:endParaRPr/>
          </a:p>
        </p:txBody>
      </p:sp>
      <p:pic>
        <p:nvPicPr>
          <p:cNvPr id="346" name="Google Shape;34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850" y="2643763"/>
            <a:ext cx="636270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7"/>
          <p:cNvSpPr txBox="1"/>
          <p:nvPr/>
        </p:nvSpPr>
        <p:spPr>
          <a:xfrm>
            <a:off x="129650" y="4568875"/>
            <a:ext cx="8954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Источник в блоге Александра Дьяконова: 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https://alexanderdyakonov.wordpress.com/2017/07/28/auc-roc-%D0%BF%D0%BB%D0%BE%D1%89%D0%B0%D0%B4%D1%8C-%D0%BF%D0%BE%D0%B4-%D0%BA%D1%80%D0%B8%D0%B2%D0%BE%D0%B9-%D0%BE%D1%88%D0%B8%D0%B1%D0%BE%D0%BA/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ROC curve - вычисление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Для построения кривой ошибок необходимо посчитать FPR и TPR для таблицы 3, а также для еще нескольких подобных таблиц для разных пороговых значений вероятности. В идеале, каждое уникальное значение оценки может быть порогом.</a:t>
            </a:r>
            <a:endParaRPr/>
          </a:p>
        </p:txBody>
      </p:sp>
      <p:pic>
        <p:nvPicPr>
          <p:cNvPr id="354" name="Google Shape;35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850" y="2643763"/>
            <a:ext cx="636270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8"/>
          <p:cNvSpPr txBox="1"/>
          <p:nvPr/>
        </p:nvSpPr>
        <p:spPr>
          <a:xfrm>
            <a:off x="129650" y="4568875"/>
            <a:ext cx="8954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Источник в блоге Александра Дьяконова: 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https://alexanderdyakonov.wordpress.com/2017/07/28/auc-roc-%D0%BF%D0%BB%D0%BE%D1%89%D0%B0%D0%B4%D1%8C-%D0%BF%D0%BE%D0%B4-%D0%BA%D1%80%D0%B8%D0%B2%D0%BE%D0%B9-%D0%BE%D1%88%D0%B8%D0%B1%D0%BE%D0%BA/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56" name="Google Shape;356;p58"/>
          <p:cNvSpPr txBox="1"/>
          <p:nvPr/>
        </p:nvSpPr>
        <p:spPr>
          <a:xfrm>
            <a:off x="7744500" y="2802275"/>
            <a:ext cx="10878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TPR = 2/3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FPR = 1/4</a:t>
            </a:r>
            <a:r>
              <a:rPr lang="ru" sz="1800">
                <a:solidFill>
                  <a:schemeClr val="dk2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ROC curve</a:t>
            </a:r>
            <a:endParaRPr/>
          </a:p>
        </p:txBody>
      </p:sp>
      <p:graphicFrame>
        <p:nvGraphicFramePr>
          <p:cNvPr id="362" name="Google Shape;362;p59"/>
          <p:cNvGraphicFramePr/>
          <p:nvPr/>
        </p:nvGraphicFramePr>
        <p:xfrm>
          <a:off x="433825" y="115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{6157C466-BB48-4399-99D4-51D3FA979031}</a:tableStyleId>
              </a:tblPr>
              <a:tblGrid>
                <a:gridCol w="648075"/>
                <a:gridCol w="633650"/>
                <a:gridCol w="1029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TPR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FPR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Threshold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0.(6)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0.(6)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0.(3)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1.1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63" name="Google Shape;363;p59"/>
          <p:cNvCxnSpPr/>
          <p:nvPr/>
        </p:nvCxnSpPr>
        <p:spPr>
          <a:xfrm rot="10800000">
            <a:off x="2795125" y="4531075"/>
            <a:ext cx="315000" cy="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59"/>
          <p:cNvSpPr txBox="1"/>
          <p:nvPr/>
        </p:nvSpPr>
        <p:spPr>
          <a:xfrm>
            <a:off x="3073175" y="4439075"/>
            <a:ext cx="33066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Добавим придуманное большое значение, чтобы кривая дошла до нуля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365" name="Google Shape;36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100" y="1437725"/>
            <a:ext cx="36766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AUC</a:t>
            </a:r>
            <a:endParaRPr/>
          </a:p>
        </p:txBody>
      </p:sp>
      <p:sp>
        <p:nvSpPr>
          <p:cNvPr id="371" name="Google Shape;371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AUC = area under the curve, площадь пространства между кривой и осью false positive rate. AUC идеальной модели должна приближаться к 1. </a:t>
            </a:r>
            <a:r>
              <a:rPr lang="ru">
                <a:solidFill>
                  <a:schemeClr val="dk1"/>
                </a:solidFill>
              </a:rPr>
              <a:t>AUC=0.5 означает, что модель не умеет разделять классы. (вопрос: а что значит AUC &lt; 0.5?)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2" name="Google Shape;37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3963" y="2707125"/>
            <a:ext cx="3114372" cy="21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Дополнительно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 txBox="1"/>
          <p:nvPr>
            <p:ph type="title"/>
          </p:nvPr>
        </p:nvSpPr>
        <p:spPr>
          <a:xfrm>
            <a:off x="311700" y="45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Линейность и нелинейность*</a:t>
            </a:r>
            <a:endParaRPr/>
          </a:p>
        </p:txBody>
      </p:sp>
      <p:sp>
        <p:nvSpPr>
          <p:cNvPr id="383" name="Google Shape;383;p62"/>
          <p:cNvSpPr txBox="1"/>
          <p:nvPr>
            <p:ph idx="1" type="body"/>
          </p:nvPr>
        </p:nvSpPr>
        <p:spPr>
          <a:xfrm>
            <a:off x="311700" y="1152475"/>
            <a:ext cx="8520600" cy="3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Нелинейность модели != нелинейность функции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094">
                <a:solidFill>
                  <a:schemeClr val="dk1"/>
                </a:solidFill>
              </a:rPr>
              <a:t>Перерисовано отсюда: </a:t>
            </a:r>
            <a:r>
              <a:rPr lang="ru" sz="1094" u="sng">
                <a:solidFill>
                  <a:schemeClr val="hlink"/>
                </a:solidFill>
                <a:hlinkClick r:id="rId3"/>
              </a:rPr>
              <a:t>http://www.statistics4u.info/fundstat_eng/cc_linvsnonlin.html</a:t>
            </a:r>
            <a:r>
              <a:rPr lang="ru" sz="1094">
                <a:solidFill>
                  <a:schemeClr val="dk1"/>
                </a:solidFill>
              </a:rPr>
              <a:t> </a:t>
            </a:r>
            <a:endParaRPr sz="1094">
              <a:solidFill>
                <a:schemeClr val="dk1"/>
              </a:solidFill>
            </a:endParaRPr>
          </a:p>
        </p:txBody>
      </p:sp>
      <p:pic>
        <p:nvPicPr>
          <p:cNvPr id="384" name="Google Shape;384;p62" title="linear non line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737" y="1782800"/>
            <a:ext cx="7588526" cy="212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62"/>
          <p:cNvSpPr txBox="1"/>
          <p:nvPr/>
        </p:nvSpPr>
        <p:spPr>
          <a:xfrm>
            <a:off x="1144150" y="3905950"/>
            <a:ext cx="198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Линейная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6" name="Google Shape;386;p62"/>
          <p:cNvSpPr txBox="1"/>
          <p:nvPr/>
        </p:nvSpPr>
        <p:spPr>
          <a:xfrm>
            <a:off x="3797763" y="3905950"/>
            <a:ext cx="198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Линейная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7" name="Google Shape;387;p62"/>
          <p:cNvSpPr txBox="1"/>
          <p:nvPr/>
        </p:nvSpPr>
        <p:spPr>
          <a:xfrm>
            <a:off x="6220500" y="3905950"/>
            <a:ext cx="198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Нелинейная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Линейность и нелинейность*</a:t>
            </a:r>
            <a:endParaRPr/>
          </a:p>
        </p:txBody>
      </p:sp>
      <p:sp>
        <p:nvSpPr>
          <p:cNvPr id="393" name="Google Shape;39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моделях линейность определяется относительно параметров, а не предиктора: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E[Y] = β</a:t>
            </a:r>
            <a:r>
              <a:rPr baseline="-25000" lang="ru">
                <a:solidFill>
                  <a:schemeClr val="dk1"/>
                </a:solidFill>
              </a:rPr>
              <a:t>0</a:t>
            </a:r>
            <a:r>
              <a:rPr lang="ru">
                <a:solidFill>
                  <a:schemeClr val="dk1"/>
                </a:solidFill>
              </a:rPr>
              <a:t> + β</a:t>
            </a:r>
            <a:r>
              <a:rPr baseline="-25000" lang="ru">
                <a:solidFill>
                  <a:schemeClr val="dk1"/>
                </a:solidFill>
              </a:rPr>
              <a:t>1</a:t>
            </a:r>
            <a:r>
              <a:rPr lang="ru">
                <a:solidFill>
                  <a:schemeClr val="dk1"/>
                </a:solidFill>
              </a:rPr>
              <a:t> + β</a:t>
            </a:r>
            <a:r>
              <a:rPr baseline="-25000" lang="ru">
                <a:solidFill>
                  <a:schemeClr val="dk1"/>
                </a:solidFill>
              </a:rPr>
              <a:t>2</a:t>
            </a:r>
            <a:r>
              <a:rPr lang="ru">
                <a:solidFill>
                  <a:schemeClr val="dk1"/>
                </a:solidFill>
              </a:rPr>
              <a:t>log(X) - линейна относительно β;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E[Y] = β</a:t>
            </a:r>
            <a:r>
              <a:rPr baseline="-25000" lang="ru">
                <a:solidFill>
                  <a:schemeClr val="dk1"/>
                </a:solidFill>
              </a:rPr>
              <a:t>0</a:t>
            </a:r>
            <a:r>
              <a:rPr lang="ru">
                <a:solidFill>
                  <a:schemeClr val="dk1"/>
                </a:solidFill>
              </a:rPr>
              <a:t> + β</a:t>
            </a:r>
            <a:r>
              <a:rPr baseline="-25000" lang="ru">
                <a:solidFill>
                  <a:schemeClr val="dk1"/>
                </a:solidFill>
              </a:rPr>
              <a:t>1</a:t>
            </a:r>
            <a:r>
              <a:rPr lang="ru">
                <a:solidFill>
                  <a:schemeClr val="dk1"/>
                </a:solidFill>
              </a:rPr>
              <a:t> + log(β</a:t>
            </a:r>
            <a:r>
              <a:rPr baseline="-25000" lang="ru">
                <a:solidFill>
                  <a:schemeClr val="dk1"/>
                </a:solidFill>
              </a:rPr>
              <a:t>2</a:t>
            </a:r>
            <a:r>
              <a:rPr lang="ru">
                <a:solidFill>
                  <a:schemeClr val="dk1"/>
                </a:solidFill>
              </a:rPr>
              <a:t>X) - НЕлинейна относительно β.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  <p:sp>
        <p:nvSpPr>
          <p:cNvPr id="399" name="Google Shape;399;p64"/>
          <p:cNvSpPr txBox="1"/>
          <p:nvPr/>
        </p:nvSpPr>
        <p:spPr>
          <a:xfrm>
            <a:off x="410625" y="3501050"/>
            <a:ext cx="8421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hlinkClick r:id="rId3"/>
              </a:rPr>
              <a:t>https://colab.research.google.com/drive/17pIUOPvlWJDqqrqkPpxyAd-jTHTOlVyl?usp=sharing</a:t>
            </a:r>
            <a:r>
              <a:rPr lang="ru" sz="1800">
                <a:solidFill>
                  <a:schemeClr val="dk2"/>
                </a:solidFill>
              </a:rPr>
              <a:t> </a:t>
            </a:r>
            <a:r>
              <a:rPr lang="ru" sz="1800">
                <a:solidFill>
                  <a:schemeClr val="dk2"/>
                </a:solidFill>
              </a:rPr>
              <a:t> </a:t>
            </a:r>
            <a:r>
              <a:rPr lang="ru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4285F4"/>
      </a:accent1>
      <a:accent2>
        <a:srgbClr val="000000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4285F4"/>
      </a:accent1>
      <a:accent2>
        <a:srgbClr val="212121"/>
      </a:accent2>
      <a:accent3>
        <a:srgbClr val="000000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