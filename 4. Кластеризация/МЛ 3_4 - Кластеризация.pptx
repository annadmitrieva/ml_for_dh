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f507509a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f507509a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f507509ad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f507509ad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f507509ad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f507509ad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cc24a9b8b9_9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cc24a9b8b9_9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f507509ad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f507509ad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f507509ad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f507509ad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f507509ad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f507509ad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c1fe5296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cc1fe5296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cc24a9b8b9_9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cc24a9b8b9_9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f507509ad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f507509ad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f507509ad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f507509ad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f507509ad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f507509ad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f507509ad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f507509ad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6425ef4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6425ef4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Practical Cheat Sheet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Use Manhattan (l1) when: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You have high-dimensional data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You want robustness to outliers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Your features aren't correlated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Use Euclidean (l2) when: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You want "natural" geometric distance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Your clusters are expected to be spherical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Low-to-medium dimensionality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Use Cosine when: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Working with text data (TF-IDF vectors)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Magnitude doesn't matter, only direction/pattern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Comparing documents, user preferences, word 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Use nan_euclidean when: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Your data has missing values (NaN)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You can't or don't want to impute missing values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f507509ad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f507509ad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f507509ad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f507509ad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cc24a9b8b9_9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cc24a9b8b9_9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f507509ad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f507509ad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f507509ad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f507509ad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f507509ad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f507509ad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24a9b8b9_9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cc24a9b8b9_9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f507509ad2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f507509ad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cc513450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cc513450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cc1fe5296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cc1fe5296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cc24a9b8b9_9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cc24a9b8b9_9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f507509ad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f507509ad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f507509ad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f507509ad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cc24a9b8b9_9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cc24a9b8b9_9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gif"/><Relationship Id="rId4" Type="http://schemas.openxmlformats.org/officeDocument/2006/relationships/hyperlink" Target="https://education.yandex.ru/handbook/ml/article/klasterizaciya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hyperlink" Target="https://scikit-learn.org/stable/modules/clustering.html#mini-batch-k-mean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hyperlink" Target="https://education.yandex.ru/handbook/ml/article/klasterizaciya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scikit-learn.org/stable/modules/generated/sklearn.metrics.pairwise_distances.html#sklearn.metrics.pairwise_distances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scikit-learn.org/stable/auto_examples/cluster/plot_agglomerative_dendrogram.html" TargetMode="External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hyperlink" Target="https://education.yandex.ru/handbook/ml/article/klasterizaciya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naftaliharris.com/blog/visualizing-dbscan-clustering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olab.research.google.com/drive/1EhMHh_FWrgULUW6Vkht-ffIqSAdgQxlY?usp=sharing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education.yandex.ru/handbook/ml/article/klasterizaciya" TargetMode="External"/><Relationship Id="rId4" Type="http://schemas.openxmlformats.org/officeDocument/2006/relationships/hyperlink" Target="https://github.com/esokolov/ml-course-hse/blob/master/2018-fall/seminars/sem11_clustering%2Bpca.ipynb" TargetMode="External"/><Relationship Id="rId5" Type="http://schemas.openxmlformats.org/officeDocument/2006/relationships/hyperlink" Target="https://github.com/ischurov/math-ml-hse-2018/blob/master/sem14_clustering/sem14_clustering.ipynb" TargetMode="External"/><Relationship Id="rId6" Type="http://schemas.openxmlformats.org/officeDocument/2006/relationships/hyperlink" Target="https://github.com/nstsj/ML_for_NLP/blob/main/5_clustering/dimred%2Bclustering.ipynb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Кластеризация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Задача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Имея множество </a:t>
            </a:r>
            <a:r>
              <a:rPr b="1" lang="ru" sz="1600"/>
              <a:t>неаннотированных</a:t>
            </a:r>
            <a:r>
              <a:rPr lang="ru" sz="1600"/>
              <a:t> данных, разделить их на такие группы (кластеры), чтобы элементы внутри каждой группы были похожи друг на друга, а элементы разных групп были разными.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ru" sz="1600"/>
              <a:t>Кластеризация - задача </a:t>
            </a:r>
            <a:r>
              <a:rPr b="1" lang="ru" sz="1600"/>
              <a:t>обучения без учителя (unsupervised learning)</a:t>
            </a:r>
            <a:r>
              <a:rPr lang="ru" sz="1600"/>
              <a:t>.</a:t>
            </a:r>
            <a:endParaRPr sz="16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5475" y="694675"/>
            <a:ext cx="4366828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6975" y="4703625"/>
            <a:ext cx="85206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Картинка: N. J. v. Eck, F. Frasincar and D. Chang, "Cluster-Based Visualization of Concept Associations," 2008 12th International Conference Information Visualisation, London, UK, 2008, pp. 409-414, doi: 10.1109/IV.2008.54. 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Использование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Выбор оптимальной точки на карте для подачи такси или курьера;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Поиск аномалий в данных;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Разделение покупателей на группы по активности на сайте;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Отнесение поискового запроса к кластеру похожих запросов;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…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Методы кластеризации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 средних;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Иерархическая агломеративная кластеризация;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DBSCAN;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ru"/>
              <a:t>…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KMeans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 средних / K means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Алгоритм: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Выбор К центров кластеров (К задается пользователем);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Распределение остальных объектов по кластерам по критерию близости к центру;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Центр масс каждого кластера (среднее арифметическое векторов признаков) становится новым центром кластера;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Остальные объекты заново распределяются вокруг нового центра.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Повторяется, пока кластеры не перестанут меняться.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K средних / K means</a:t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1146175"/>
            <a:ext cx="41148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237725" y="4646450"/>
            <a:ext cx="46248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Картинка: </a:t>
            </a:r>
            <a:r>
              <a:rPr lang="ru" sz="900" u="sng">
                <a:solidFill>
                  <a:schemeClr val="hlink"/>
                </a:solidFill>
                <a:hlinkClick r:id="rId4"/>
              </a:rPr>
              <a:t>https://education.yandex.ru/handbook/ml/article/klasterizaciya</a:t>
            </a:r>
            <a:r>
              <a:rPr lang="ru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Заметки о выборе центров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Вначале центры выбираются из объектов выборки, чтобы не попасть в те точки пространства, где нет признаков;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ru"/>
              <a:t>Начальные положения точек выбираются таким образом, чтобы они были как можно дальше друг от друга.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Mini-batch KMeans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700"/>
              <a:t>Вариант К средних, использующий </a:t>
            </a:r>
            <a:r>
              <a:rPr b="1" lang="ru" sz="1700"/>
              <a:t>мини-батчи</a:t>
            </a:r>
            <a:r>
              <a:rPr lang="ru" sz="1700"/>
              <a:t>: работающий на каждом шаге не со всей выборкой, а с ее случайно выбранным подмножеством. Позволяет существенно сократить время работы алгоритма без серьезных потерь в качестве.</a:t>
            </a:r>
            <a:endParaRPr sz="1700"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900" y="2416375"/>
            <a:ext cx="6254200" cy="234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/>
        </p:nvSpPr>
        <p:spPr>
          <a:xfrm>
            <a:off x="311700" y="4761700"/>
            <a:ext cx="7655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Картинка: </a:t>
            </a:r>
            <a:r>
              <a:rPr lang="ru" sz="900" u="sng">
                <a:solidFill>
                  <a:schemeClr val="hlink"/>
                </a:solidFill>
                <a:hlinkClick r:id="rId4"/>
              </a:rPr>
              <a:t>https://scikit-learn.org/stable/modules/clustering.html#mini-batch-k-means</a:t>
            </a:r>
            <a:r>
              <a:rPr lang="ru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Иерархическая кластеризация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Иерархическая кластеризация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Может быть </a:t>
            </a:r>
            <a:r>
              <a:rPr lang="ru"/>
              <a:t>агломерационной</a:t>
            </a:r>
            <a:r>
              <a:rPr lang="ru"/>
              <a:t> или дивизионной.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3750" y="1777530"/>
            <a:ext cx="5301977" cy="279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3"/>
          <p:cNvSpPr txBox="1"/>
          <p:nvPr/>
        </p:nvSpPr>
        <p:spPr>
          <a:xfrm>
            <a:off x="237725" y="4646450"/>
            <a:ext cx="46248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Картинка: </a:t>
            </a:r>
            <a:r>
              <a:rPr lang="ru" sz="900" u="sng">
                <a:solidFill>
                  <a:schemeClr val="hlink"/>
                </a:solidFill>
                <a:hlinkClick r:id="rId4"/>
              </a:rPr>
              <a:t>https://education.yandex.ru/handbook/ml/article/klasterizaciya</a:t>
            </a:r>
            <a:r>
              <a:rPr lang="ru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Вложенность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Данная кластеризация является </a:t>
            </a:r>
            <a:r>
              <a:rPr b="1" lang="ru"/>
              <a:t>вложенной</a:t>
            </a:r>
            <a:r>
              <a:rPr lang="ru"/>
              <a:t>, так как мы начинаем с кластеров из одного объекта и постепенно объединяем их в большие кластеры. Кластеризации без вложенности, где все кластеры равноправны, называются </a:t>
            </a:r>
            <a:r>
              <a:rPr b="1" lang="ru"/>
              <a:t>плоскими</a:t>
            </a:r>
            <a:r>
              <a:rPr lang="ru"/>
              <a:t>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Алгоритм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Создаём столько кластеров, сколько у нас объектов в выборке, каждый объект — в своём отдельном кластере.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ru"/>
              <a:t>Повторяем итеративно слияние двух ближайших кластеров, пока не выполнится условия окончания работы алгоритма (например, пока элементы не кончатся).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измерять расстояния между кластерами?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Минимальное расстояние между объектами;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Максимальное расстояние между объектами;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Среднее расстояние;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Ward: соединяем кластеры так, чтобы минимизировать дисперсию внутри них.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ru"/>
              <a:t>Метод можно задать самостоятельно, используя гиперпараметр linkage. Конкретный математический метод измерения расстояния в гиперпространстве задается параметром metric.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вычислять расстояние</a:t>
            </a:r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311700" y="1152475"/>
            <a:ext cx="8520600" cy="36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Метод вычисления расстояния между кластерами можно задать при помощи параметра metric в некоторых моделях. Метрика зависит от данных, с которыми вы работаете.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Числовые данные: </a:t>
            </a:r>
            <a:r>
              <a:rPr lang="ru"/>
              <a:t>cosine, euclidean, l1, l2, manhattan…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Категориальные данные: hamming, jaccard…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Тексты: </a:t>
            </a:r>
            <a:r>
              <a:rPr lang="ru">
                <a:solidFill>
                  <a:schemeClr val="dk1"/>
                </a:solidFill>
              </a:rPr>
              <a:t>cosine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ru">
                <a:solidFill>
                  <a:schemeClr val="dk1"/>
                </a:solidFill>
              </a:rPr>
              <a:t>Больше способов измерить расстояния: </a:t>
            </a:r>
            <a:r>
              <a:rPr lang="ru" u="sng">
                <a:solidFill>
                  <a:schemeClr val="hlink"/>
                </a:solidFill>
                <a:hlinkClick r:id="rId3"/>
              </a:rPr>
              <a:t>https://scikit-learn.org/stable/modules/generated/sklearn.metrics.pairwise_distances.html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Окончание работы алгоритма</a:t>
            </a:r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Все элементы объединены в один кластер;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ru"/>
              <a:t>Выполняется некое условие расстояния между кластерами: например, расстояние сливаемых кластеров значительно выросло по сравнению с прошлой итерацией.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определить, сколько кластеров на самом деле?</a:t>
            </a:r>
            <a:endParaRPr/>
          </a:p>
        </p:txBody>
      </p:sp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По дендрограмме: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По горизонтали - номера объектов;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ru" sz="1600"/>
              <a:t>По вертикали - расстояния между кластерами в момент слияния.</a:t>
            </a:r>
            <a:endParaRPr sz="1600"/>
          </a:p>
        </p:txBody>
      </p:sp>
      <p:sp>
        <p:nvSpPr>
          <p:cNvPr id="157" name="Google Shape;157;p29"/>
          <p:cNvSpPr txBox="1"/>
          <p:nvPr/>
        </p:nvSpPr>
        <p:spPr>
          <a:xfrm>
            <a:off x="237725" y="4646450"/>
            <a:ext cx="52659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Картинка: </a:t>
            </a:r>
            <a:r>
              <a:rPr lang="ru" sz="900" u="sng">
                <a:solidFill>
                  <a:schemeClr val="hlink"/>
                </a:solidFill>
                <a:hlinkClick r:id="rId3"/>
              </a:rPr>
              <a:t>https://scikit-learn.org/stable/auto_examples/cluster/plot_agglomerative_dendrogram.html</a:t>
            </a:r>
            <a:r>
              <a:rPr lang="ru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58" name="Google Shape;15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000" y="1170125"/>
            <a:ext cx="4431901" cy="332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DBSCAN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DBSCAN</a:t>
            </a:r>
            <a:endParaRPr/>
          </a:p>
        </p:txBody>
      </p:sp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Density-based spatial clustering of applications with noise: кластеризация на основе связных компонент.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/>
              <a:t>DBSCAN сам определяет количество кластеров и может выявлять также вложенные кластеры.</a:t>
            </a:r>
            <a:endParaRPr sz="1600"/>
          </a:p>
        </p:txBody>
      </p:sp>
      <p:pic>
        <p:nvPicPr>
          <p:cNvPr id="170" name="Google Shape;1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9600" y="1209473"/>
            <a:ext cx="3218525" cy="272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1"/>
          <p:cNvSpPr txBox="1"/>
          <p:nvPr/>
        </p:nvSpPr>
        <p:spPr>
          <a:xfrm>
            <a:off x="237725" y="4646450"/>
            <a:ext cx="46248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2"/>
                </a:solidFill>
              </a:rPr>
              <a:t>Картинка: </a:t>
            </a:r>
            <a:r>
              <a:rPr lang="ru" sz="900" u="sng">
                <a:solidFill>
                  <a:schemeClr val="hlink"/>
                </a:solidFill>
                <a:hlinkClick r:id="rId4"/>
              </a:rPr>
              <a:t>https://education.yandex.ru/handbook/ml/article/klasterizaciya</a:t>
            </a:r>
            <a:r>
              <a:rPr lang="ru" sz="900">
                <a:solidFill>
                  <a:schemeClr val="dk2"/>
                </a:solidFill>
              </a:rPr>
              <a:t> 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DBSCAN: алгоритм</a:t>
            </a:r>
            <a:endParaRPr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311700" y="1152475"/>
            <a:ext cx="8520600" cy="3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Гиперпараметры: epsilon/eps, min_samples/min_points, metric.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"/>
              <a:t>Типы данных: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Внутренние/основные</a:t>
            </a:r>
            <a:r>
              <a:rPr lang="ru"/>
              <a:t> точки: точки, в окрестности радиуса eps которых больше </a:t>
            </a:r>
            <a:r>
              <a:rPr lang="ru">
                <a:solidFill>
                  <a:schemeClr val="dk1"/>
                </a:solidFill>
              </a:rPr>
              <a:t>min_samples</a:t>
            </a:r>
            <a:r>
              <a:rPr lang="ru"/>
              <a:t> объектов выборки</a:t>
            </a:r>
            <a:r>
              <a:rPr lang="ru">
                <a:solidFill>
                  <a:schemeClr val="dk1"/>
                </a:solidFill>
              </a:rPr>
              <a:t>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Граничные</a:t>
            </a:r>
            <a:r>
              <a:rPr lang="ru"/>
              <a:t> точки: точки, в окрестности которых есть основные, но общее количество точек в окрестности меньше </a:t>
            </a:r>
            <a:r>
              <a:rPr lang="ru">
                <a:solidFill>
                  <a:schemeClr val="dk1"/>
                </a:solidFill>
              </a:rPr>
              <a:t>min_samples</a:t>
            </a:r>
            <a:r>
              <a:rPr lang="ru">
                <a:solidFill>
                  <a:schemeClr val="dk1"/>
                </a:solidFill>
              </a:rPr>
              <a:t>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b="1" lang="ru"/>
              <a:t>Шумовые</a:t>
            </a:r>
            <a:r>
              <a:rPr lang="ru"/>
              <a:t> точки: точки, в окрестности которых нет основных точек и в целом содержится менее </a:t>
            </a:r>
            <a:r>
              <a:rPr lang="ru">
                <a:solidFill>
                  <a:schemeClr val="dk1"/>
                </a:solidFill>
              </a:rPr>
              <a:t>min_samples</a:t>
            </a:r>
            <a:r>
              <a:rPr lang="ru"/>
              <a:t> объектов выборки.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DBSCAN: алгоритм</a:t>
            </a:r>
            <a:endParaRPr/>
          </a:p>
        </p:txBody>
      </p:sp>
      <p:sp>
        <p:nvSpPr>
          <p:cNvPr id="183" name="Google Shape;183;p33"/>
          <p:cNvSpPr txBox="1"/>
          <p:nvPr>
            <p:ph idx="1" type="body"/>
          </p:nvPr>
        </p:nvSpPr>
        <p:spPr>
          <a:xfrm>
            <a:off x="311700" y="1152475"/>
            <a:ext cx="8520600" cy="3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Шумовые точки убираются из рассмотрения и не приписываются ни к какому кластеру;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Основные точки, у которых есть общая окрестность, соединяются ребром;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В полученном графе выделяются компоненты связности (максимальные связные подграфы);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Каждая граничная точка относится к тому кластеру, в который попала ближайшая к ней основная точка.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Визуализация: </a:t>
            </a:r>
            <a:r>
              <a:rPr lang="ru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https://www.naftaliharris.com/blog/visualizing-dbscan-clustering/</a:t>
            </a:r>
            <a:r>
              <a:rPr lang="ru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Оценка качества кластеризации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Оценка качества кластеризации</a:t>
            </a:r>
            <a:endParaRPr/>
          </a:p>
        </p:txBody>
      </p:sp>
      <p:sp>
        <p:nvSpPr>
          <p:cNvPr id="194" name="Google Shape;194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Без размеченной выборки: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Коэффициент силуэта:</a:t>
            </a:r>
            <a:r>
              <a:rPr lang="ru"/>
              <a:t> мера расстояния между кластерами и их “разделенности”.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Фиксированная шкала: принимает значения от –1 до +1 и максимизируется, когда кластеры кучные и хорошо отделены друг от друга.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Ближе к +1: данная точка находится далеко от ближайших кластеров (к которым она не относится);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Ближе к 0: точка находится около границы кластеров;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Ближе к -1: точка ближе к объектам ближайших кластеров, чем к объектам своего.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Оценка качества кластеризации</a:t>
            </a:r>
            <a:endParaRPr/>
          </a:p>
        </p:txBody>
      </p:sp>
      <p:sp>
        <p:nvSpPr>
          <p:cNvPr id="200" name="Google Shape;20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Коэффициент силуэта - формула для одной точки: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ru"/>
              <a:t>Пусть а - среднее расстояние между объектом и всеми остальными объектами данного кластера, а b - среднее расстояние между этим объектом и всеми объектами другого ближайшего кластера. Тогда силуэт этого объекта равен: </a:t>
            </a:r>
            <a:endParaRPr/>
          </a:p>
        </p:txBody>
      </p:sp>
      <p:pic>
        <p:nvPicPr>
          <p:cNvPr id="201" name="Google Shape;201;p36" title="[0,0,0,&quot;https://www.codecogs.com/eqnedit.php?latex=%20s%20%3D%20%5Cfrac%7Bb%20-%20a%7D%7Bmax(a%2C%20b)%7D%20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8050" y="2807675"/>
            <a:ext cx="1549201" cy="6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Оценка качества кластеризации</a:t>
            </a:r>
            <a:endParaRPr/>
          </a:p>
        </p:txBody>
      </p:sp>
      <p:sp>
        <p:nvSpPr>
          <p:cNvPr id="207" name="Google Shape;207;p37"/>
          <p:cNvSpPr txBox="1"/>
          <p:nvPr>
            <p:ph idx="1" type="body"/>
          </p:nvPr>
        </p:nvSpPr>
        <p:spPr>
          <a:xfrm>
            <a:off x="311700" y="1152475"/>
            <a:ext cx="8520600" cy="3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Если есть небольшая размеченная выборка</a:t>
            </a:r>
            <a:r>
              <a:rPr lang="ru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ru">
                <a:solidFill>
                  <a:schemeClr val="dk1"/>
                </a:solidFill>
              </a:rPr>
              <a:t>(Adjusted) Random Index</a:t>
            </a:r>
            <a:r>
              <a:rPr lang="ru">
                <a:solidFill>
                  <a:schemeClr val="dk1"/>
                </a:solidFill>
              </a:rPr>
              <a:t>: метрика похожести y_true и y_pred без перестановок. Adjusted Rand Index будет равен нулю, если выборка </a:t>
            </a:r>
            <a:r>
              <a:rPr lang="ru">
                <a:solidFill>
                  <a:schemeClr val="dk1"/>
                </a:solidFill>
              </a:rPr>
              <a:t>y_pred сгенерирована случайно;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Фиксированная шкала: от 0 до 1 для RI и от -1 до 1 для ARI.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Оценка качества кластеризации</a:t>
            </a:r>
            <a:endParaRPr/>
          </a:p>
        </p:txBody>
      </p:sp>
      <p:sp>
        <p:nvSpPr>
          <p:cNvPr id="213" name="Google Shape;213;p38"/>
          <p:cNvSpPr txBox="1"/>
          <p:nvPr>
            <p:ph idx="1" type="body"/>
          </p:nvPr>
        </p:nvSpPr>
        <p:spPr>
          <a:xfrm>
            <a:off x="311700" y="1152475"/>
            <a:ext cx="8520600" cy="3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а - количество пар элементов из всех возможных комбинаций (порядок неважен), находящихся в одном и том же кластере в y_true и y_pred;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b - пары элементов, находящиеся в разных кластерах в y_true и y_pred;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с - </a:t>
            </a:r>
            <a:r>
              <a:rPr lang="ru">
                <a:solidFill>
                  <a:schemeClr val="dk1"/>
                </a:solidFill>
              </a:rPr>
              <a:t>пары элементов</a:t>
            </a:r>
            <a:r>
              <a:rPr lang="ru">
                <a:solidFill>
                  <a:schemeClr val="dk1"/>
                </a:solidFill>
              </a:rPr>
              <a:t>, которые в y_true находятся в одном кластере, а в y_pred - в разных;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d - </a:t>
            </a:r>
            <a:r>
              <a:rPr lang="ru">
                <a:solidFill>
                  <a:schemeClr val="dk1"/>
                </a:solidFill>
              </a:rPr>
              <a:t>пары элементов</a:t>
            </a:r>
            <a:r>
              <a:rPr lang="ru">
                <a:solidFill>
                  <a:schemeClr val="dk1"/>
                </a:solidFill>
              </a:rPr>
              <a:t>, находящиеся в разных кластерах в y_true и в одном кластере в y_pred.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4" name="Google Shape;214;p38" title="[0,0,0,&quot;https://www.codecogs.com/eqnedit.php?latex=%20RI%20%3D%20%5Cfrac%7Ba%2Bb%7D%7Ba%2Bb%2Bc%2Bd%7D%20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1825" y="1474250"/>
            <a:ext cx="1921101" cy="50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Оценка качества кластеризации</a:t>
            </a:r>
            <a:endParaRPr/>
          </a:p>
        </p:txBody>
      </p:sp>
      <p:sp>
        <p:nvSpPr>
          <p:cNvPr id="220" name="Google Shape;220;p39"/>
          <p:cNvSpPr txBox="1"/>
          <p:nvPr>
            <p:ph idx="1" type="body"/>
          </p:nvPr>
        </p:nvSpPr>
        <p:spPr>
          <a:xfrm>
            <a:off x="311700" y="1152475"/>
            <a:ext cx="8520600" cy="35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Если есть небольшая размеченная выборка: гомогенность, полнота и V-мера.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Гомогенность равна единице, когда каждый кластер содержит элементы только одного класса и номер кластера, таким образом, точно определяет номер класса;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Полнота равна единице, когда все объекты класса всегда оказываются в одном кластере;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V-мера: гармоническое среднее между гомогенностью и полнотой.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Вопрос:</a:t>
            </a:r>
            <a:r>
              <a:rPr lang="ru">
                <a:solidFill>
                  <a:schemeClr val="dk1"/>
                </a:solidFill>
              </a:rPr>
              <a:t> как достичь идеальной гомогенности? Как достичь идеальной полноты?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r>
              <a:rPr lang="ru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https://colab.research.google.com/drive/1EhMHh_FWrgULUW6Vkht-ffIqSAdgQxlY?usp=sharing</a:t>
            </a:r>
            <a:r>
              <a:rPr lang="ru"/>
              <a:t> 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Источники</a:t>
            </a:r>
            <a:endParaRPr/>
          </a:p>
        </p:txBody>
      </p:sp>
      <p:sp>
        <p:nvSpPr>
          <p:cNvPr id="231" name="Google Shape;23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https://education.yandex.ru/handbook/ml/article/klasterizaciya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https://github.com/esokolov/ml-course-hse/blob/master/2018-fall/seminars/sem11_clustering%2Bpca.ipynb</a:t>
            </a:r>
            <a:r>
              <a:rPr lang="ru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https://github.com/ischurov/math-ml-hse-2018/blob/master/sem14_clustering/sem14_clustering.ipynb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https://github.com/nstsj/ML_for_NLP/blob/main/5_clustering/dimred%2Bclustering.ipynb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4285F4"/>
      </a:accent1>
      <a:accent2>
        <a:srgbClr val="212121"/>
      </a:accent2>
      <a:accent3>
        <a:srgbClr val="000000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