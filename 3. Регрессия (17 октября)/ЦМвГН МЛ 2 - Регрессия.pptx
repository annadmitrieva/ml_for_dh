
<file path=[Content_Types].xml><?xml version="1.0" encoding="utf-8"?>
<Types xmlns="http://schemas.openxmlformats.org/package/2006/content-types">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1" r:id="rId5"/>
    <p:sldMasterId id="2147483682" r:id="rId6"/>
    <p:sldMasterId id="2147483683"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70AA995-9720-4803-976F-6CC03A1B5411}">
  <a:tblStyle styleId="{D70AA995-9720-4803-976F-6CC03A1B541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20" Type="http://schemas.openxmlformats.org/officeDocument/2006/relationships/slide" Target="slides/slide12.xml"/><Relationship Id="rId42" Type="http://schemas.openxmlformats.org/officeDocument/2006/relationships/slide" Target="slides/slide34.xml"/><Relationship Id="rId41" Type="http://schemas.openxmlformats.org/officeDocument/2006/relationships/slide" Target="slides/slide33.xml"/><Relationship Id="rId22" Type="http://schemas.openxmlformats.org/officeDocument/2006/relationships/slide" Target="slides/slide14.xml"/><Relationship Id="rId44" Type="http://schemas.openxmlformats.org/officeDocument/2006/relationships/slide" Target="slides/slide36.xml"/><Relationship Id="rId21" Type="http://schemas.openxmlformats.org/officeDocument/2006/relationships/slide" Target="slides/slide13.xml"/><Relationship Id="rId43" Type="http://schemas.openxmlformats.org/officeDocument/2006/relationships/slide" Target="slides/slide35.xml"/><Relationship Id="rId24" Type="http://schemas.openxmlformats.org/officeDocument/2006/relationships/slide" Target="slides/slide16.xml"/><Relationship Id="rId23" Type="http://schemas.openxmlformats.org/officeDocument/2006/relationships/slide" Target="slides/slide15.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1.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1.xml"/><Relationship Id="rId7" Type="http://schemas.openxmlformats.org/officeDocument/2006/relationships/slideMaster" Target="slideMasters/slideMaster3.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11" Type="http://schemas.openxmlformats.org/officeDocument/2006/relationships/slide" Target="slides/slide3.xml"/><Relationship Id="rId33" Type="http://schemas.openxmlformats.org/officeDocument/2006/relationships/slide" Target="slides/slide25.xml"/><Relationship Id="rId10" Type="http://schemas.openxmlformats.org/officeDocument/2006/relationships/slide" Target="slides/slide2.xml"/><Relationship Id="rId32" Type="http://schemas.openxmlformats.org/officeDocument/2006/relationships/slide" Target="slides/slide24.xml"/><Relationship Id="rId13" Type="http://schemas.openxmlformats.org/officeDocument/2006/relationships/slide" Target="slides/slide5.xml"/><Relationship Id="rId35" Type="http://schemas.openxmlformats.org/officeDocument/2006/relationships/slide" Target="slides/slide27.xml"/><Relationship Id="rId12" Type="http://schemas.openxmlformats.org/officeDocument/2006/relationships/slide" Target="slides/slide4.xml"/><Relationship Id="rId34" Type="http://schemas.openxmlformats.org/officeDocument/2006/relationships/slide" Target="slides/slide26.xml"/><Relationship Id="rId15" Type="http://schemas.openxmlformats.org/officeDocument/2006/relationships/slide" Target="slides/slide7.xml"/><Relationship Id="rId37" Type="http://schemas.openxmlformats.org/officeDocument/2006/relationships/slide" Target="slides/slide29.xml"/><Relationship Id="rId14" Type="http://schemas.openxmlformats.org/officeDocument/2006/relationships/slide" Target="slides/slide6.xml"/><Relationship Id="rId36" Type="http://schemas.openxmlformats.org/officeDocument/2006/relationships/slide" Target="slides/slide28.xml"/><Relationship Id="rId17" Type="http://schemas.openxmlformats.org/officeDocument/2006/relationships/slide" Target="slides/slide9.xml"/><Relationship Id="rId39" Type="http://schemas.openxmlformats.org/officeDocument/2006/relationships/slide" Target="slides/slide31.xml"/><Relationship Id="rId16" Type="http://schemas.openxmlformats.org/officeDocument/2006/relationships/slide" Target="slides/slide8.xml"/><Relationship Id="rId38" Type="http://schemas.openxmlformats.org/officeDocument/2006/relationships/slide" Target="slides/slide30.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habr.com/ru/articles/679232/" TargetMode="Externa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ca238d3386_8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2ca238d3386_8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c4af5a3553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2c4af5a3553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2ca238d3386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2ca238d3386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ca238d338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ca238d338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c671406d27_2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2c671406d27_2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2c9b4b0357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2c9b4b0357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2c9b4b0357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2c9b4b0357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2c671406d27_2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 name="Google Shape;200;g2c671406d27_2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Градиентный, потому что градиент - это направление наискорейшего роста функции.</a:t>
            </a:r>
            <a:endParaRPr/>
          </a:p>
          <a:p>
            <a:pPr indent="0" lvl="0" marL="0" rtl="0" algn="l">
              <a:spcBef>
                <a:spcPts val="0"/>
              </a:spcBef>
              <a:spcAft>
                <a:spcPts val="0"/>
              </a:spcAft>
              <a:buNone/>
            </a:pPr>
            <a:r>
              <a:rPr lang="ru"/>
              <a:t>Количество эпох ограничивается пользователем или библиотекой. Итерации и эпохи - не всегда одно и то же.</a:t>
            </a:r>
            <a:endParaRPr/>
          </a:p>
          <a:p>
            <a:pPr indent="0" lvl="0" marL="0" rtl="0" algn="l">
              <a:spcBef>
                <a:spcPts val="0"/>
              </a:spcBef>
              <a:spcAft>
                <a:spcPts val="0"/>
              </a:spcAft>
              <a:buNone/>
            </a:pPr>
            <a:r>
              <a:rPr lang="ru"/>
              <a:t>Говорят, что модель сошлась, если минимум близок к нулю и шаг изменяется минимально.</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38d989b7d5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38d989b7d5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Градиентный, потому что градиент - это вектор из частных производных.</a:t>
            </a:r>
            <a:endParaRPr/>
          </a:p>
          <a:p>
            <a:pPr indent="0" lvl="0" marL="0" rtl="0" algn="l">
              <a:spcBef>
                <a:spcPts val="0"/>
              </a:spcBef>
              <a:spcAft>
                <a:spcPts val="0"/>
              </a:spcAft>
              <a:buNone/>
            </a:pPr>
            <a:r>
              <a:rPr lang="ru"/>
              <a:t>Количество эпох ограничивается пользователем или библиотекой. Итерации и эпохи - не всегда одно и то же.</a:t>
            </a:r>
            <a:endParaRPr/>
          </a:p>
          <a:p>
            <a:pPr indent="0" lvl="0" marL="0" rtl="0" algn="l">
              <a:spcBef>
                <a:spcPts val="0"/>
              </a:spcBef>
              <a:spcAft>
                <a:spcPts val="0"/>
              </a:spcAft>
              <a:buNone/>
            </a:pPr>
            <a:r>
              <a:rPr lang="ru"/>
              <a:t>Говорят, что модель сошлась, если минимум близок к нулю и шаг изменяется минимально.</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2ca238d338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2ca238d338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2c4af5a3553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2c4af5a3553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2c4af5a3553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2c4af5a3553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2c4af5a3553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2c4af5a3553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206cdbe2b5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206cdbe2b5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3206cdbe2b5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3206cdbe2b5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3206cdbe2b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3206cdbe2b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206cdbe2b5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206cdbe2b5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g3206cdbe2b5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2" name="Google Shape;272;g3206cdbe2b5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298450" lvl="0" marL="457200" rtl="0" algn="l">
              <a:lnSpc>
                <a:spcPct val="115000"/>
              </a:lnSpc>
              <a:spcBef>
                <a:spcPts val="1400"/>
              </a:spcBef>
              <a:spcAft>
                <a:spcPts val="0"/>
              </a:spcAft>
              <a:buClr>
                <a:schemeClr val="dk1"/>
              </a:buClr>
              <a:buSzPts val="1100"/>
              <a:buChar char="●"/>
            </a:pPr>
            <a:r>
              <a:rPr lang="ru"/>
              <a:t>The validation curve summarizes the tradeoff between training and validation errors as we vary the model complexity. The learning curve summarizes the tradeoff between training and validation errors as we vary the size of the training set.</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206cdbe2b5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206cdbe2b5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206cdbe2b5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206cdbe2b5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2ca238d3386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2ca238d3386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2c4af5a3553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2c4af5a3553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2c4af5a3553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2c4af5a3553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2c4af5a3553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2c4af5a3553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u="sng">
                <a:solidFill>
                  <a:schemeClr val="hlink"/>
                </a:solidFill>
                <a:hlinkClick r:id="rId2"/>
              </a:rPr>
              <a:t>https://habr.com/ru/articles/679232/</a:t>
            </a:r>
            <a:r>
              <a:rPr lang="ru"/>
              <a:t>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2c9c2abcda4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2c9c2abcda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g2ca238d3386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7" name="Google Shape;327;g2ca238d3386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2c4af5a3553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2c4af5a3553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lang="ru"/>
              <a:t>MSE квадратично штрафует за большие ошибки на объектах. Мы уже видели проявление этого при обучении моделей методом минимизации квадратичных ошибок – там это проявлялось в том, что модель старалась хорошо подстроиться под выбросы.</a:t>
            </a:r>
            <a:endParaRPr/>
          </a:p>
          <a:p>
            <a:pPr indent="0" lvl="0" marL="0" rtl="0" algn="l">
              <a:lnSpc>
                <a:spcPct val="115000"/>
              </a:lnSpc>
              <a:spcBef>
                <a:spcPts val="1400"/>
              </a:spcBef>
              <a:spcAft>
                <a:spcPts val="0"/>
              </a:spcAft>
              <a:buClr>
                <a:schemeClr val="dk1"/>
              </a:buClr>
              <a:buSzPts val="1100"/>
              <a:buFont typeface="Arial"/>
              <a:buNone/>
            </a:pPr>
            <a:r>
              <a:rPr lang="ru"/>
              <a:t>Пусть теперь мы хотим использовать MSE для оценки наших регрессионных моделей. Если большие ошибки для нас действительно неприемлемы, то квадратичный штраф за них - очень полезное свойство (и его даже можно усиливать, повышая степень, в которую мы возводим ошибку на объекте). Однако если в наших тестовых данных присутствуют выбросы, то нам будет сложно объективно сравнить модели между собой: ошибки на выбросах будет маскировать различия в ошибках на основном множестве объектов.</a:t>
            </a:r>
            <a:endParaRPr/>
          </a:p>
          <a:p>
            <a:pPr indent="0" lvl="0" marL="0" rtl="0" algn="l">
              <a:spcBef>
                <a:spcPts val="1400"/>
              </a:spcBef>
              <a:spcAft>
                <a:spcPts val="0"/>
              </a:spcAft>
              <a:buNone/>
            </a:pPr>
            <a:r>
              <a:rPr lang="ru"/>
              <a:t>Таким образом, если мы будем сравнивать две модели при помощи MSE, у нас будет выигрывать та модель, у которой меньше ошибка на объектах-выбросах</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2c4af5a355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2c4af5a355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Explained variance?</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2c9c2abcda4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9" name="Google Shape;349;g2c9c2abcda4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Explained variance?</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2c4af5a3553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2c4af5a3553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2c4af5a3553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2c4af5a3553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2c4af5a3553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2c4af5a3553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2c4af5a3553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2c4af5a3553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0" name="Shape 380"/>
        <p:cNvGrpSpPr/>
        <p:nvPr/>
      </p:nvGrpSpPr>
      <p:grpSpPr>
        <a:xfrm>
          <a:off x="0" y="0"/>
          <a:ext cx="0" cy="0"/>
          <a:chOff x="0" y="0"/>
          <a:chExt cx="0" cy="0"/>
        </a:xfrm>
      </p:grpSpPr>
      <p:sp>
        <p:nvSpPr>
          <p:cNvPr id="381" name="Google Shape;381;g38d989b7d5f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2" name="Google Shape;382;g38d989b7d5f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206cdbe2b5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206cdbe2b5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9" name="Shape 99"/>
        <p:cNvGrpSpPr/>
        <p:nvPr/>
      </p:nvGrpSpPr>
      <p:grpSpPr>
        <a:xfrm>
          <a:off x="0" y="0"/>
          <a:ext cx="0" cy="0"/>
          <a:chOff x="0" y="0"/>
          <a:chExt cx="0" cy="0"/>
        </a:xfrm>
      </p:grpSpPr>
      <p:sp>
        <p:nvSpPr>
          <p:cNvPr id="100" name="Google Shape;100;p2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1" name="Google Shape;101;p2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02" name="Google Shape;102;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3" name="Shape 103"/>
        <p:cNvGrpSpPr/>
        <p:nvPr/>
      </p:nvGrpSpPr>
      <p:grpSpPr>
        <a:xfrm>
          <a:off x="0" y="0"/>
          <a:ext cx="0" cy="0"/>
          <a:chOff x="0" y="0"/>
          <a:chExt cx="0" cy="0"/>
        </a:xfrm>
      </p:grpSpPr>
      <p:sp>
        <p:nvSpPr>
          <p:cNvPr id="104" name="Google Shape;104;p2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05" name="Google Shape;105;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6" name="Shape 106"/>
        <p:cNvGrpSpPr/>
        <p:nvPr/>
      </p:nvGrpSpPr>
      <p:grpSpPr>
        <a:xfrm>
          <a:off x="0" y="0"/>
          <a:ext cx="0" cy="0"/>
          <a:chOff x="0" y="0"/>
          <a:chExt cx="0" cy="0"/>
        </a:xfrm>
      </p:grpSpPr>
      <p:sp>
        <p:nvSpPr>
          <p:cNvPr id="107" name="Google Shape;107;p2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8" name="Google Shape;108;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09" name="Google Shape;109;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0" name="Shape 110"/>
        <p:cNvGrpSpPr/>
        <p:nvPr/>
      </p:nvGrpSpPr>
      <p:grpSpPr>
        <a:xfrm>
          <a:off x="0" y="0"/>
          <a:ext cx="0" cy="0"/>
          <a:chOff x="0" y="0"/>
          <a:chExt cx="0" cy="0"/>
        </a:xfrm>
      </p:grpSpPr>
      <p:sp>
        <p:nvSpPr>
          <p:cNvPr id="111" name="Google Shape;111;p2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2" name="Google Shape;112;p29"/>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3" name="Google Shape;113;p29"/>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14" name="Google Shape;114;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5" name="Shape 115"/>
        <p:cNvGrpSpPr/>
        <p:nvPr/>
      </p:nvGrpSpPr>
      <p:grpSpPr>
        <a:xfrm>
          <a:off x="0" y="0"/>
          <a:ext cx="0" cy="0"/>
          <a:chOff x="0" y="0"/>
          <a:chExt cx="0" cy="0"/>
        </a:xfrm>
      </p:grpSpPr>
      <p:sp>
        <p:nvSpPr>
          <p:cNvPr id="116" name="Google Shape;116;p3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7" name="Google Shape;117;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18" name="Shape 118"/>
        <p:cNvGrpSpPr/>
        <p:nvPr/>
      </p:nvGrpSpPr>
      <p:grpSpPr>
        <a:xfrm>
          <a:off x="0" y="0"/>
          <a:ext cx="0" cy="0"/>
          <a:chOff x="0" y="0"/>
          <a:chExt cx="0" cy="0"/>
        </a:xfrm>
      </p:grpSpPr>
      <p:sp>
        <p:nvSpPr>
          <p:cNvPr id="119" name="Google Shape;119;p31"/>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20" name="Google Shape;120;p31"/>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121" name="Google Shape;121;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22" name="Shape 122"/>
        <p:cNvGrpSpPr/>
        <p:nvPr/>
      </p:nvGrpSpPr>
      <p:grpSpPr>
        <a:xfrm>
          <a:off x="0" y="0"/>
          <a:ext cx="0" cy="0"/>
          <a:chOff x="0" y="0"/>
          <a:chExt cx="0" cy="0"/>
        </a:xfrm>
      </p:grpSpPr>
      <p:sp>
        <p:nvSpPr>
          <p:cNvPr id="123" name="Google Shape;123;p32"/>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24" name="Google Shape;124;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5" name="Shape 125"/>
        <p:cNvGrpSpPr/>
        <p:nvPr/>
      </p:nvGrpSpPr>
      <p:grpSpPr>
        <a:xfrm>
          <a:off x="0" y="0"/>
          <a:ext cx="0" cy="0"/>
          <a:chOff x="0" y="0"/>
          <a:chExt cx="0" cy="0"/>
        </a:xfrm>
      </p:grpSpPr>
      <p:sp>
        <p:nvSpPr>
          <p:cNvPr id="126" name="Google Shape;126;p3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33"/>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28" name="Google Shape;128;p33"/>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29" name="Google Shape;129;p33"/>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30" name="Google Shape;130;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1" name="Shape 131"/>
        <p:cNvGrpSpPr/>
        <p:nvPr/>
      </p:nvGrpSpPr>
      <p:grpSpPr>
        <a:xfrm>
          <a:off x="0" y="0"/>
          <a:ext cx="0" cy="0"/>
          <a:chOff x="0" y="0"/>
          <a:chExt cx="0" cy="0"/>
        </a:xfrm>
      </p:grpSpPr>
      <p:sp>
        <p:nvSpPr>
          <p:cNvPr id="132" name="Google Shape;132;p34"/>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133" name="Google Shape;133;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34" name="Shape 134"/>
        <p:cNvGrpSpPr/>
        <p:nvPr/>
      </p:nvGrpSpPr>
      <p:grpSpPr>
        <a:xfrm>
          <a:off x="0" y="0"/>
          <a:ext cx="0" cy="0"/>
          <a:chOff x="0" y="0"/>
          <a:chExt cx="0" cy="0"/>
        </a:xfrm>
      </p:grpSpPr>
      <p:sp>
        <p:nvSpPr>
          <p:cNvPr id="135" name="Google Shape;135;p3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36" name="Google Shape;136;p35"/>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137" name="Google Shape;137;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8" name="Shape 138"/>
        <p:cNvGrpSpPr/>
        <p:nvPr/>
      </p:nvGrpSpPr>
      <p:grpSpPr>
        <a:xfrm>
          <a:off x="0" y="0"/>
          <a:ext cx="0" cy="0"/>
          <a:chOff x="0" y="0"/>
          <a:chExt cx="0" cy="0"/>
        </a:xfrm>
      </p:grpSpPr>
      <p:sp>
        <p:nvSpPr>
          <p:cNvPr id="139" name="Google Shape;139;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4.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11" Type="http://schemas.openxmlformats.org/officeDocument/2006/relationships/slideLayout" Target="../slideLayouts/slideLayout33.xml"/><Relationship Id="rId10" Type="http://schemas.openxmlformats.org/officeDocument/2006/relationships/slideLayout" Target="../slideLayouts/slideLayout32.xml"/><Relationship Id="rId12" Type="http://schemas.openxmlformats.org/officeDocument/2006/relationships/theme" Target="../theme/theme2.xml"/><Relationship Id="rId9" Type="http://schemas.openxmlformats.org/officeDocument/2006/relationships/slideLayout" Target="../slideLayouts/slideLayout31.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5" name="Shape 95"/>
        <p:cNvGrpSpPr/>
        <p:nvPr/>
      </p:nvGrpSpPr>
      <p:grpSpPr>
        <a:xfrm>
          <a:off x="0" y="0"/>
          <a:ext cx="0" cy="0"/>
          <a:chOff x="0" y="0"/>
          <a:chExt cx="0" cy="0"/>
        </a:xfrm>
      </p:grpSpPr>
      <p:sp>
        <p:nvSpPr>
          <p:cNvPr id="96" name="Google Shape;96;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97" name="Google Shape;97;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98" name="Google Shape;98;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ru"/>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hyperlink" Target="https://seaborn.pydata.org/examples/multiple_regression.htm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hyperlink" Target="https://jakevdp.github.io/PythonDataScienceHandbook/05.06-linear-regression.html" TargetMode="External"/><Relationship Id="rId5" Type="http://schemas.openxmlformats.org/officeDocument/2006/relationships/image" Target="../media/image6.png"/><Relationship Id="rId6"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9.png"/><Relationship Id="rId4" Type="http://schemas.openxmlformats.org/officeDocument/2006/relationships/hyperlink" Target="https://www.javatpoint.com/linear-regression-vs-logistic-regression-in-machine-learn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hyperlink" Target="https://jermwatt.github.io/machine_learning_refined/notes/5_Linear_regression/5_2_Least.html" TargetMode="External"/><Relationship Id="rId5" Type="http://schemas.openxmlformats.org/officeDocument/2006/relationships/image" Target="../media/image2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hyperlink" Target="https://towardsdatascience.com/linear-regression-using-gradient-descent-97a6c8700931"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hyperlink" Target="https://commons.wikimedia.org/wiki/File:Gradient_descent.gif" TargetMode="External"/><Relationship Id="rId4" Type="http://schemas.openxmlformats.org/officeDocument/2006/relationships/image" Target="../media/image15.gi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hyperlink" Target="https://jakevdp.github.io/PythonDataScienceHandbook/05.06-linear-regression.html" TargetMode="External"/><Relationship Id="rId5"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14.png"/><Relationship Id="rId5"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hyperlink" Target="https://jakevdp.github.io/PythonDataScienceHandbook/06.00-figure-code.html#Bias-Variance-Tradeoff"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s://jakevdp.github.io/PythonDataScienceHandbook/06.00-figure-code.html#Bias-Variance-Tradeoff-Metrics" TargetMode="Externa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hyperlink" Target="https://jakevdp.github.io/PythonDataScienceHandbook/06.00-figure-code.html#Validation-Curve" TargetMode="External"/><Relationship Id="rId4" Type="http://schemas.openxmlformats.org/officeDocument/2006/relationships/hyperlink" Target="https://jakevdp.github.io/PythonDataScienceHandbook/05.03-hyperparameters-and-model-validation.html#Learning-curves-in-Scikit-Learn" TargetMode="External"/><Relationship Id="rId5" Type="http://schemas.openxmlformats.org/officeDocument/2006/relationships/image" Target="../media/image10.png"/><Relationship Id="rId6"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9.png"/><Relationship Id="rId4" Type="http://schemas.openxmlformats.org/officeDocument/2006/relationships/hyperlink" Target="https://jakevdp.github.io/PythonDataScienceHandbook/06.00-figure-code.html#Learning-Curve"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0.png"/><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25.png"/><Relationship Id="rId4" Type="http://schemas.openxmlformats.org/officeDocument/2006/relationships/image" Target="../media/image21.png"/><Relationship Id="rId5" Type="http://schemas.openxmlformats.org/officeDocument/2006/relationships/image" Target="../media/image2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18.png"/><Relationship Id="rId4"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2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2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22.png"/><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hyperlink" Target="https://scikit-learn.org/stable/modules/generated/sklearn.feature_selection.f_regression.html"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hyperlink" Target="https://colab.research.google.com/drive/1JVNFnJWZfxiFTpRcHdIHRJqEwV8lPVae?usp=sharing"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hyperlink" Target="https://docs.google.com/forms/d/e/1FAIpQLSeGOz21yhZPwT57bfGAtosqNGJjn_Rwm09R4nxzMzqbJY_Q3Q/viewform?usp=dialog"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hyperlink" Target="https://pozdniakov.github.io/tidy_stats/340-lm.html" TargetMode="External"/><Relationship Id="rId4" Type="http://schemas.openxmlformats.org/officeDocument/2006/relationships/hyperlink" Target="https://colab.research.google.com/github/fbeilstein/machine_learning/blob/master/lecture_09_linear_regression.ipynb#scrollTo=Mz3BqxXrcnlk" TargetMode="External"/><Relationship Id="rId5" Type="http://schemas.openxmlformats.org/officeDocument/2006/relationships/hyperlink" Target="https://colab.research.google.com/drive/1lW_fBux71x5wvX-mb-GVRW80feNqmQao#scrollTo=T9ZjmpydBt3m"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3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ru" sz="5200"/>
              <a:t>Регрессия</a:t>
            </a:r>
            <a:endParaRPr sz="52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Регрессия</a:t>
            </a:r>
            <a:endParaRPr/>
          </a:p>
        </p:txBody>
      </p:sp>
      <p:sp>
        <p:nvSpPr>
          <p:cNvPr id="150" name="Google Shape;150;p38"/>
          <p:cNvSpPr txBox="1"/>
          <p:nvPr>
            <p:ph idx="1" type="body"/>
          </p:nvPr>
        </p:nvSpPr>
        <p:spPr>
          <a:xfrm>
            <a:off x="354925" y="1303750"/>
            <a:ext cx="3999900" cy="3652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1800">
                <a:solidFill>
                  <a:schemeClr val="dk1"/>
                </a:solidFill>
              </a:rPr>
              <a:t>Задача: исследовать влияние независимых переменных на зависимую.</a:t>
            </a:r>
            <a:endParaRPr sz="1800">
              <a:solidFill>
                <a:schemeClr val="dk1"/>
              </a:solidFill>
            </a:endParaRPr>
          </a:p>
          <a:p>
            <a:pPr indent="0" lvl="0" marL="0" rtl="0" algn="l">
              <a:spcBef>
                <a:spcPts val="1200"/>
              </a:spcBef>
              <a:spcAft>
                <a:spcPts val="0"/>
              </a:spcAft>
              <a:buClr>
                <a:schemeClr val="dk1"/>
              </a:buClr>
              <a:buSzPts val="1100"/>
              <a:buFont typeface="Arial"/>
              <a:buNone/>
            </a:pPr>
            <a:r>
              <a:rPr lang="ru" sz="1800">
                <a:solidFill>
                  <a:schemeClr val="dk1"/>
                </a:solidFill>
              </a:rPr>
              <a:t>Примеры:</a:t>
            </a:r>
            <a:endParaRPr sz="1800">
              <a:solidFill>
                <a:schemeClr val="dk1"/>
              </a:solidFill>
            </a:endParaRPr>
          </a:p>
          <a:p>
            <a:pPr indent="-342900" lvl="0" marL="457200" rtl="0" algn="l">
              <a:spcBef>
                <a:spcPts val="1200"/>
              </a:spcBef>
              <a:spcAft>
                <a:spcPts val="0"/>
              </a:spcAft>
              <a:buClr>
                <a:schemeClr val="dk1"/>
              </a:buClr>
              <a:buSzPts val="1800"/>
              <a:buChar char="●"/>
            </a:pPr>
            <a:r>
              <a:rPr lang="ru" sz="1800">
                <a:solidFill>
                  <a:schemeClr val="dk1"/>
                </a:solidFill>
              </a:rPr>
              <a:t>Анализ данных айтрекинга (влияние различных свойств слова на длину фиксации);</a:t>
            </a:r>
            <a:endParaRPr sz="1800">
              <a:solidFill>
                <a:schemeClr val="dk1"/>
              </a:solidFill>
            </a:endParaRPr>
          </a:p>
          <a:p>
            <a:pPr indent="-342900" lvl="0" marL="457200" rtl="0" algn="l">
              <a:spcBef>
                <a:spcPts val="0"/>
              </a:spcBef>
              <a:spcAft>
                <a:spcPts val="0"/>
              </a:spcAft>
              <a:buClr>
                <a:schemeClr val="dk1"/>
              </a:buClr>
              <a:buSzPts val="1800"/>
              <a:buChar char="●"/>
            </a:pPr>
            <a:r>
              <a:rPr lang="ru" sz="1800">
                <a:solidFill>
                  <a:schemeClr val="dk1"/>
                </a:solidFill>
              </a:rPr>
              <a:t>Влияние различных свойств текста на его читабельность;</a:t>
            </a:r>
            <a:endParaRPr sz="1800">
              <a:solidFill>
                <a:schemeClr val="dk1"/>
              </a:solidFill>
            </a:endParaRPr>
          </a:p>
          <a:p>
            <a:pPr indent="-342900" lvl="0" marL="457200" rtl="0" algn="l">
              <a:spcBef>
                <a:spcPts val="0"/>
              </a:spcBef>
              <a:spcAft>
                <a:spcPts val="0"/>
              </a:spcAft>
              <a:buClr>
                <a:schemeClr val="dk1"/>
              </a:buClr>
              <a:buSzPts val="1800"/>
              <a:buChar char="●"/>
            </a:pPr>
            <a:r>
              <a:rPr lang="ru" sz="1800">
                <a:solidFill>
                  <a:schemeClr val="dk1"/>
                </a:solidFill>
              </a:rPr>
              <a:t>…</a:t>
            </a:r>
            <a:endParaRPr sz="1800">
              <a:solidFill>
                <a:schemeClr val="dk1"/>
              </a:solidFill>
            </a:endParaRPr>
          </a:p>
        </p:txBody>
      </p:sp>
      <p:pic>
        <p:nvPicPr>
          <p:cNvPr id="151" name="Google Shape;151;p38"/>
          <p:cNvPicPr preferRelativeResize="0"/>
          <p:nvPr/>
        </p:nvPicPr>
        <p:blipFill>
          <a:blip r:embed="rId3">
            <a:alphaModFix/>
          </a:blip>
          <a:stretch>
            <a:fillRect/>
          </a:stretch>
        </p:blipFill>
        <p:spPr>
          <a:xfrm>
            <a:off x="4672787" y="1152475"/>
            <a:ext cx="4064130" cy="3285700"/>
          </a:xfrm>
          <a:prstGeom prst="rect">
            <a:avLst/>
          </a:prstGeom>
          <a:noFill/>
          <a:ln>
            <a:noFill/>
          </a:ln>
        </p:spPr>
      </p:pic>
      <p:sp>
        <p:nvSpPr>
          <p:cNvPr id="152" name="Google Shape;152;p38"/>
          <p:cNvSpPr txBox="1"/>
          <p:nvPr/>
        </p:nvSpPr>
        <p:spPr>
          <a:xfrm>
            <a:off x="4832400" y="4609975"/>
            <a:ext cx="3744900" cy="180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200"/>
              </a:spcAft>
              <a:buNone/>
            </a:pPr>
            <a:r>
              <a:rPr lang="ru" sz="900">
                <a:solidFill>
                  <a:schemeClr val="dk1"/>
                </a:solidFill>
              </a:rPr>
              <a:t>Картинка: Multiple linear regression in Seaborn,</a:t>
            </a:r>
            <a:r>
              <a:rPr lang="ru" sz="900">
                <a:solidFill>
                  <a:schemeClr val="dk2"/>
                </a:solidFill>
              </a:rPr>
              <a:t> </a:t>
            </a:r>
            <a:r>
              <a:rPr lang="ru" sz="900" u="sng">
                <a:solidFill>
                  <a:schemeClr val="accent5"/>
                </a:solidFill>
                <a:hlinkClick r:id="rId4">
                  <a:extLst>
                    <a:ext uri="{A12FA001-AC4F-418D-AE19-62706E023703}">
                      <ahyp:hlinkClr val="tx"/>
                    </a:ext>
                  </a:extLst>
                </a:hlinkClick>
              </a:rPr>
              <a:t>https://seaborn.pydata.org/examples/multiple_regression.html</a:t>
            </a:r>
            <a:r>
              <a:rPr lang="ru" sz="900">
                <a:solidFill>
                  <a:schemeClr val="dk2"/>
                </a:solidFill>
              </a:rPr>
              <a:t> </a:t>
            </a:r>
            <a:endParaRPr sz="900">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Линейная регрессия</a:t>
            </a:r>
            <a:endParaRPr/>
          </a:p>
        </p:txBody>
      </p:sp>
      <p:sp>
        <p:nvSpPr>
          <p:cNvPr id="158" name="Google Shape;158;p39"/>
          <p:cNvSpPr txBox="1"/>
          <p:nvPr>
            <p:ph idx="1" type="body"/>
          </p:nvPr>
        </p:nvSpPr>
        <p:spPr>
          <a:xfrm>
            <a:off x="311700" y="1152475"/>
            <a:ext cx="42057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600"/>
              <a:t>Задача: предсказать значение зависимой переменной.</a:t>
            </a:r>
            <a:endParaRPr sz="1600"/>
          </a:p>
          <a:p>
            <a:pPr indent="0" lvl="0" marL="0" rtl="0" algn="l">
              <a:spcBef>
                <a:spcPts val="1200"/>
              </a:spcBef>
              <a:spcAft>
                <a:spcPts val="0"/>
              </a:spcAft>
              <a:buNone/>
            </a:pPr>
            <a:r>
              <a:rPr lang="ru" sz="1600"/>
              <a:t>Функция в простейшей форме имеет вид:</a:t>
            </a:r>
            <a:endParaRPr sz="1600"/>
          </a:p>
          <a:p>
            <a:pPr indent="0" lvl="0" marL="0" rtl="0" algn="l">
              <a:spcBef>
                <a:spcPts val="1200"/>
              </a:spcBef>
              <a:spcAft>
                <a:spcPts val="0"/>
              </a:spcAft>
              <a:buNone/>
            </a:pPr>
            <a:r>
              <a:t/>
            </a:r>
            <a:endParaRPr sz="1600"/>
          </a:p>
          <a:p>
            <a:pPr indent="0" lvl="0" marL="0" rtl="0" algn="l">
              <a:spcBef>
                <a:spcPts val="1200"/>
              </a:spcBef>
              <a:spcAft>
                <a:spcPts val="0"/>
              </a:spcAft>
              <a:buNone/>
            </a:pPr>
            <a:r>
              <a:rPr lang="ru" sz="1600"/>
              <a:t>Где w - коэффициент, w</a:t>
            </a:r>
            <a:r>
              <a:rPr baseline="-25000" lang="ru" sz="1600"/>
              <a:t>0</a:t>
            </a:r>
            <a:r>
              <a:rPr lang="ru" sz="1600"/>
              <a:t> - intercept.</a:t>
            </a:r>
            <a:endParaRPr sz="1600"/>
          </a:p>
          <a:p>
            <a:pPr indent="0" lvl="0" marL="0" rtl="0" algn="l">
              <a:spcBef>
                <a:spcPts val="1200"/>
              </a:spcBef>
              <a:spcAft>
                <a:spcPts val="0"/>
              </a:spcAft>
              <a:buNone/>
            </a:pPr>
            <a:r>
              <a:rPr lang="ru" sz="1600"/>
              <a:t>При увеличении количества признаков:</a:t>
            </a:r>
            <a:endParaRPr sz="1600"/>
          </a:p>
          <a:p>
            <a:pPr indent="0" lvl="0" marL="0" rtl="0" algn="l">
              <a:spcBef>
                <a:spcPts val="1200"/>
              </a:spcBef>
              <a:spcAft>
                <a:spcPts val="1200"/>
              </a:spcAft>
              <a:buNone/>
            </a:pPr>
            <a:r>
              <a:t/>
            </a:r>
            <a:endParaRPr sz="1600"/>
          </a:p>
        </p:txBody>
      </p:sp>
      <p:pic>
        <p:nvPicPr>
          <p:cNvPr id="159" name="Google Shape;159;p39"/>
          <p:cNvPicPr preferRelativeResize="0"/>
          <p:nvPr/>
        </p:nvPicPr>
        <p:blipFill>
          <a:blip r:embed="rId3">
            <a:alphaModFix/>
          </a:blip>
          <a:stretch>
            <a:fillRect/>
          </a:stretch>
        </p:blipFill>
        <p:spPr>
          <a:xfrm>
            <a:off x="5097475" y="1350075"/>
            <a:ext cx="3734825" cy="2599125"/>
          </a:xfrm>
          <a:prstGeom prst="rect">
            <a:avLst/>
          </a:prstGeom>
          <a:noFill/>
          <a:ln>
            <a:noFill/>
          </a:ln>
        </p:spPr>
      </p:pic>
      <p:sp>
        <p:nvSpPr>
          <p:cNvPr id="160" name="Google Shape;160;p39"/>
          <p:cNvSpPr txBox="1"/>
          <p:nvPr/>
        </p:nvSpPr>
        <p:spPr>
          <a:xfrm>
            <a:off x="4597550" y="4281550"/>
            <a:ext cx="4437000" cy="35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900">
                <a:solidFill>
                  <a:schemeClr val="dk2"/>
                </a:solidFill>
              </a:rPr>
              <a:t>Картинка: </a:t>
            </a:r>
            <a:r>
              <a:rPr lang="ru" sz="900" u="sng">
                <a:solidFill>
                  <a:schemeClr val="hlink"/>
                </a:solidFill>
                <a:hlinkClick r:id="rId4"/>
              </a:rPr>
              <a:t>https://jakevdp.github.io/PythonDataScienceHandbook/05.06-linear-regression.html</a:t>
            </a:r>
            <a:r>
              <a:rPr lang="ru" sz="900">
                <a:solidFill>
                  <a:schemeClr val="dk2"/>
                </a:solidFill>
              </a:rPr>
              <a:t> </a:t>
            </a:r>
            <a:endParaRPr sz="900">
              <a:solidFill>
                <a:schemeClr val="dk2"/>
              </a:solidFill>
            </a:endParaRPr>
          </a:p>
        </p:txBody>
      </p:sp>
      <p:pic>
        <p:nvPicPr>
          <p:cNvPr id="161" name="Google Shape;161;p39" title="[0,0,0,&quot;https://www.codecogs.com/eqnedit.php?latex=%20y%20%3D%20wx%20%2B%20w_0%20#0&quot;]"/>
          <p:cNvPicPr preferRelativeResize="0"/>
          <p:nvPr/>
        </p:nvPicPr>
        <p:blipFill>
          <a:blip r:embed="rId5">
            <a:alphaModFix/>
          </a:blip>
          <a:stretch>
            <a:fillRect/>
          </a:stretch>
        </p:blipFill>
        <p:spPr>
          <a:xfrm>
            <a:off x="472250" y="2375288"/>
            <a:ext cx="1305583" cy="190500"/>
          </a:xfrm>
          <a:prstGeom prst="rect">
            <a:avLst/>
          </a:prstGeom>
          <a:noFill/>
          <a:ln>
            <a:noFill/>
          </a:ln>
        </p:spPr>
      </p:pic>
      <p:pic>
        <p:nvPicPr>
          <p:cNvPr id="162" name="Google Shape;162;p39" title="[0,0,0,&quot;https://www.codecogs.com/eqnedit.php?latex=%20y%20%3D%20w_0%20%2B%20w_1x_1%20%2B%20w_2x_2%20%2B%20%5B...%5D%20%20#0&quot;]"/>
          <p:cNvPicPr preferRelativeResize="0"/>
          <p:nvPr/>
        </p:nvPicPr>
        <p:blipFill>
          <a:blip r:embed="rId6">
            <a:alphaModFix/>
          </a:blip>
          <a:stretch>
            <a:fillRect/>
          </a:stretch>
        </p:blipFill>
        <p:spPr>
          <a:xfrm>
            <a:off x="428475" y="3637925"/>
            <a:ext cx="3679250" cy="3112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Разница между линейной регрессией и логистической</a:t>
            </a:r>
            <a:endParaRPr/>
          </a:p>
        </p:txBody>
      </p:sp>
      <p:pic>
        <p:nvPicPr>
          <p:cNvPr id="168" name="Google Shape;168;p40"/>
          <p:cNvPicPr preferRelativeResize="0"/>
          <p:nvPr/>
        </p:nvPicPr>
        <p:blipFill>
          <a:blip r:embed="rId3">
            <a:alphaModFix/>
          </a:blip>
          <a:stretch>
            <a:fillRect/>
          </a:stretch>
        </p:blipFill>
        <p:spPr>
          <a:xfrm>
            <a:off x="1912200" y="1431825"/>
            <a:ext cx="5319599" cy="2279850"/>
          </a:xfrm>
          <a:prstGeom prst="rect">
            <a:avLst/>
          </a:prstGeom>
          <a:noFill/>
          <a:ln>
            <a:noFill/>
          </a:ln>
        </p:spPr>
      </p:pic>
      <p:sp>
        <p:nvSpPr>
          <p:cNvPr id="169" name="Google Shape;169;p40"/>
          <p:cNvSpPr txBox="1"/>
          <p:nvPr/>
        </p:nvSpPr>
        <p:spPr>
          <a:xfrm>
            <a:off x="1829775" y="4041325"/>
            <a:ext cx="2535600" cy="43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ru" sz="1800">
                <a:solidFill>
                  <a:schemeClr val="dk2"/>
                </a:solidFill>
              </a:rPr>
              <a:t>y = -1, 0, 0.1, 0.12… 1, 2…</a:t>
            </a:r>
            <a:endParaRPr sz="1800">
              <a:solidFill>
                <a:schemeClr val="dk2"/>
              </a:solidFill>
            </a:endParaRPr>
          </a:p>
        </p:txBody>
      </p:sp>
      <p:sp>
        <p:nvSpPr>
          <p:cNvPr id="170" name="Google Shape;170;p40"/>
          <p:cNvSpPr txBox="1"/>
          <p:nvPr/>
        </p:nvSpPr>
        <p:spPr>
          <a:xfrm>
            <a:off x="4813275" y="4041325"/>
            <a:ext cx="2535600" cy="43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ru" sz="1800">
                <a:solidFill>
                  <a:schemeClr val="dk2"/>
                </a:solidFill>
              </a:rPr>
              <a:t>y = 0 | y = 1</a:t>
            </a:r>
            <a:endParaRPr sz="1800">
              <a:solidFill>
                <a:schemeClr val="dk2"/>
              </a:solidFill>
            </a:endParaRPr>
          </a:p>
        </p:txBody>
      </p:sp>
      <p:sp>
        <p:nvSpPr>
          <p:cNvPr id="171" name="Google Shape;171;p40"/>
          <p:cNvSpPr txBox="1"/>
          <p:nvPr/>
        </p:nvSpPr>
        <p:spPr>
          <a:xfrm>
            <a:off x="208900" y="4810475"/>
            <a:ext cx="5662200" cy="23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900">
                <a:solidFill>
                  <a:schemeClr val="dk2"/>
                </a:solidFill>
              </a:rPr>
              <a:t>Картинка: </a:t>
            </a:r>
            <a:r>
              <a:rPr lang="ru" sz="900" u="sng">
                <a:solidFill>
                  <a:schemeClr val="hlink"/>
                </a:solidFill>
                <a:hlinkClick r:id="rId4"/>
              </a:rPr>
              <a:t>https://www.javatpoint.com/linear-regression-vs-logistic-regression-in-machine-learning</a:t>
            </a:r>
            <a:r>
              <a:rPr lang="ru" sz="900">
                <a:solidFill>
                  <a:schemeClr val="dk2"/>
                </a:solidFill>
              </a:rPr>
              <a:t> </a:t>
            </a:r>
            <a:endParaRPr sz="900">
              <a:solidFill>
                <a:schemeClr val="dk2"/>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41"/>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ru"/>
              <a:t>Оптимизация</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Как подобрать значения параметров?</a:t>
            </a:r>
            <a:endParaRPr/>
          </a:p>
        </p:txBody>
      </p:sp>
      <p:sp>
        <p:nvSpPr>
          <p:cNvPr id="182" name="Google Shape;182;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ru"/>
              <a:t>Подбор точных значений параметров - очень дорогая операция в многомерном пространстве. Поэтому мы будем итеративно приближать значения параметров к идеальным.</a:t>
            </a:r>
            <a:endParaRPr/>
          </a:p>
          <a:p>
            <a:pPr indent="0" lvl="0" marL="0" rtl="0" algn="l">
              <a:spcBef>
                <a:spcPts val="1200"/>
              </a:spcBef>
              <a:spcAft>
                <a:spcPts val="0"/>
              </a:spcAft>
              <a:buNone/>
            </a:pPr>
            <a:r>
              <a:rPr lang="ru"/>
              <a:t>Мы начинаем со случайными параметрами, а потом постепенно исправляем их с помощью функции потерь (loss). Существует много видов функций потерь. Значения лосса большие, если модель работает плохо, и маленькие, если хорошо.</a:t>
            </a:r>
            <a:endParaRPr/>
          </a:p>
          <a:p>
            <a:pPr indent="0" lvl="0" marL="0" rtl="0" algn="l">
              <a:spcBef>
                <a:spcPts val="1200"/>
              </a:spcBef>
              <a:spcAft>
                <a:spcPts val="0"/>
              </a:spcAft>
              <a:buNone/>
            </a:pPr>
            <a:r>
              <a:rPr lang="ru"/>
              <a:t>Для регрессий в качестве функции потерь чаще всего используется метод наименьших квадратов.</a:t>
            </a:r>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Метод наименьших квадратов</a:t>
            </a:r>
            <a:endParaRPr/>
          </a:p>
        </p:txBody>
      </p:sp>
      <p:pic>
        <p:nvPicPr>
          <p:cNvPr id="188" name="Google Shape;188;p43"/>
          <p:cNvPicPr preferRelativeResize="0"/>
          <p:nvPr/>
        </p:nvPicPr>
        <p:blipFill>
          <a:blip r:embed="rId3">
            <a:alphaModFix/>
          </a:blip>
          <a:stretch>
            <a:fillRect/>
          </a:stretch>
        </p:blipFill>
        <p:spPr>
          <a:xfrm>
            <a:off x="1115650" y="1250925"/>
            <a:ext cx="6651049" cy="1990776"/>
          </a:xfrm>
          <a:prstGeom prst="rect">
            <a:avLst/>
          </a:prstGeom>
          <a:noFill/>
          <a:ln>
            <a:noFill/>
          </a:ln>
        </p:spPr>
      </p:pic>
      <p:sp>
        <p:nvSpPr>
          <p:cNvPr id="189" name="Google Shape;189;p43"/>
          <p:cNvSpPr txBox="1"/>
          <p:nvPr/>
        </p:nvSpPr>
        <p:spPr>
          <a:xfrm>
            <a:off x="525875" y="3241700"/>
            <a:ext cx="7830600" cy="153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1800">
                <a:solidFill>
                  <a:schemeClr val="dk2"/>
                </a:solidFill>
              </a:rPr>
              <a:t>Задача - минимизировать длину линий ошибок, возведенных в квадрат.</a:t>
            </a:r>
            <a:endParaRPr sz="1800">
              <a:solidFill>
                <a:schemeClr val="dk2"/>
              </a:solidFill>
            </a:endParaRPr>
          </a:p>
          <a:p>
            <a:pPr indent="0" lvl="0" marL="0" rtl="0" algn="l">
              <a:spcBef>
                <a:spcPts val="1000"/>
              </a:spcBef>
              <a:spcAft>
                <a:spcPts val="0"/>
              </a:spcAft>
              <a:buNone/>
            </a:pPr>
            <a:r>
              <a:rPr lang="ru" sz="1800">
                <a:solidFill>
                  <a:schemeClr val="dk2"/>
                </a:solidFill>
              </a:rPr>
              <a:t>Формула:</a:t>
            </a:r>
            <a:endParaRPr sz="1800">
              <a:solidFill>
                <a:schemeClr val="dk2"/>
              </a:solidFill>
            </a:endParaRPr>
          </a:p>
          <a:p>
            <a:pPr indent="0" lvl="0" marL="0" rtl="0" algn="l">
              <a:spcBef>
                <a:spcPts val="1000"/>
              </a:spcBef>
              <a:spcAft>
                <a:spcPts val="0"/>
              </a:spcAft>
              <a:buNone/>
            </a:pPr>
            <a:r>
              <a:t/>
            </a:r>
            <a:endParaRPr sz="1800">
              <a:solidFill>
                <a:schemeClr val="dk2"/>
              </a:solidFill>
            </a:endParaRPr>
          </a:p>
        </p:txBody>
      </p:sp>
      <p:sp>
        <p:nvSpPr>
          <p:cNvPr id="190" name="Google Shape;190;p43"/>
          <p:cNvSpPr txBox="1"/>
          <p:nvPr/>
        </p:nvSpPr>
        <p:spPr>
          <a:xfrm>
            <a:off x="525875" y="4728900"/>
            <a:ext cx="7137300" cy="211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900">
                <a:solidFill>
                  <a:schemeClr val="dk2"/>
                </a:solidFill>
              </a:rPr>
              <a:t>Картинка: </a:t>
            </a:r>
            <a:r>
              <a:rPr lang="ru" sz="900" u="sng">
                <a:solidFill>
                  <a:schemeClr val="hlink"/>
                </a:solidFill>
                <a:hlinkClick r:id="rId4"/>
              </a:rPr>
              <a:t>https://jermwatt.github.io/machine_learning_refined/notes/5_Linear_regression/5_2_Least.html</a:t>
            </a:r>
            <a:r>
              <a:rPr lang="ru" sz="900">
                <a:solidFill>
                  <a:schemeClr val="dk2"/>
                </a:solidFill>
              </a:rPr>
              <a:t> </a:t>
            </a:r>
            <a:endParaRPr sz="900">
              <a:solidFill>
                <a:schemeClr val="dk2"/>
              </a:solidFill>
            </a:endParaRPr>
          </a:p>
        </p:txBody>
      </p:sp>
      <p:pic>
        <p:nvPicPr>
          <p:cNvPr id="191" name="Google Shape;191;p43" title="{&quot;red&quot;:0,&quot;green&quot;:0,&quot;blue&quot;:0,&quot;origURL&quot;:&quot;https://www.codecogs.com/eqnedit.php?latex=%20Loss(w%2C%20x%2C%20y)%20%3D%20%5Cfrac%7B1%7D%7BN%7D%5Csum_%7Bn%3D1%7D%5E%7BN%7D(y_%7Btrue%5C_n%7D%20-%20y_%7Bpred%5C_n%7D)%5E2%20#0&quot;,&quot;size&quot;:18,&quot;width&quot;:294.66141732283467,&quot;height&quot;:50.31496062992126}"/>
          <p:cNvPicPr preferRelativeResize="0"/>
          <p:nvPr/>
        </p:nvPicPr>
        <p:blipFill>
          <a:blip r:embed="rId5">
            <a:alphaModFix/>
          </a:blip>
          <a:stretch>
            <a:fillRect/>
          </a:stretch>
        </p:blipFill>
        <p:spPr>
          <a:xfrm>
            <a:off x="1985400" y="3689500"/>
            <a:ext cx="4354199" cy="737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Как подобрать значения параметров?</a:t>
            </a:r>
            <a:endParaRPr/>
          </a:p>
        </p:txBody>
      </p:sp>
      <p:sp>
        <p:nvSpPr>
          <p:cNvPr id="197" name="Google Shape;197;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a:t>Итак, мы посчитали значения нашей функции со случайными параметрами, получили значение ошибки. Но как его минимизировать? Куда двигаться?</a:t>
            </a:r>
            <a:endParaRPr/>
          </a:p>
          <a:p>
            <a:pPr indent="0" lvl="0" marL="0" rtl="0" algn="l">
              <a:spcBef>
                <a:spcPts val="1200"/>
              </a:spcBef>
              <a:spcAft>
                <a:spcPts val="0"/>
              </a:spcAft>
              <a:buNone/>
            </a:pPr>
            <a:r>
              <a:rPr lang="ru"/>
              <a:t>Нужно найти точку, в которой лосс минимален. Это и будет оптимальным значением параметров. </a:t>
            </a:r>
            <a:endParaRPr/>
          </a:p>
          <a:p>
            <a:pPr indent="0" lvl="0" marL="0" rtl="0" algn="l">
              <a:spcBef>
                <a:spcPts val="1200"/>
              </a:spcBef>
              <a:spcAft>
                <a:spcPts val="0"/>
              </a:spcAft>
              <a:buNone/>
            </a:pPr>
            <a:r>
              <a:rPr lang="ru"/>
              <a:t>Таким образом, происходит </a:t>
            </a:r>
            <a:r>
              <a:rPr b="1" lang="ru"/>
              <a:t>оптимизация.</a:t>
            </a:r>
            <a:endParaRPr b="1"/>
          </a:p>
          <a:p>
            <a:pPr indent="0" lvl="0" marL="0" rtl="0" algn="l">
              <a:spcBef>
                <a:spcPts val="1200"/>
              </a:spcBef>
              <a:spcAft>
                <a:spcPts val="1200"/>
              </a:spcAft>
              <a:buClr>
                <a:schemeClr val="dk1"/>
              </a:buClr>
              <a:buSzPts val="1100"/>
              <a:buFont typeface="Arial"/>
              <a:buNone/>
            </a:pPr>
            <a:r>
              <a:rPr lang="ru">
                <a:solidFill>
                  <a:schemeClr val="dk1"/>
                </a:solidFill>
              </a:rPr>
              <a:t>Одним из самых популярных алгоритмов оптимизации, т.е. поиска оптимальных значений параметров, является градиентный спуск.</a:t>
            </a:r>
            <a:endParaRPr sz="21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Оптимизация: градиентный спуск</a:t>
            </a:r>
            <a:endParaRPr/>
          </a:p>
        </p:txBody>
      </p:sp>
      <p:sp>
        <p:nvSpPr>
          <p:cNvPr id="203" name="Google Shape;203;p45"/>
          <p:cNvSpPr txBox="1"/>
          <p:nvPr>
            <p:ph idx="1" type="body"/>
          </p:nvPr>
        </p:nvSpPr>
        <p:spPr>
          <a:xfrm>
            <a:off x="311700" y="1152475"/>
            <a:ext cx="4260300" cy="3911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1600"/>
              <a:t>Идея: мы берем частную производную функции потерь по каждому из весов. Получаем градиент - вектор из частных производных. Потом к каждому весу прибавляем значение этой производной, но не всё полностью, а умноженное на некое небольшое число (learning rate), чтобы не проскочить минимум. Потом вычисляем новый лосс, пока не дойдем* до 0.</a:t>
            </a:r>
            <a:endParaRPr sz="1600"/>
          </a:p>
          <a:p>
            <a:pPr indent="0" lvl="0" marL="0" rtl="0" algn="l">
              <a:spcBef>
                <a:spcPts val="1200"/>
              </a:spcBef>
              <a:spcAft>
                <a:spcPts val="1200"/>
              </a:spcAft>
              <a:buNone/>
            </a:pPr>
            <a:r>
              <a:rPr lang="ru"/>
              <a:t>* </a:t>
            </a:r>
            <a:r>
              <a:rPr lang="ru"/>
              <a:t>стоит сказать, что на самом деле количество подобных проходов, или эпох, ограничено. </a:t>
            </a:r>
            <a:endParaRPr/>
          </a:p>
        </p:txBody>
      </p:sp>
      <p:pic>
        <p:nvPicPr>
          <p:cNvPr id="204" name="Google Shape;204;p45"/>
          <p:cNvPicPr preferRelativeResize="0"/>
          <p:nvPr/>
        </p:nvPicPr>
        <p:blipFill>
          <a:blip r:embed="rId3">
            <a:alphaModFix/>
          </a:blip>
          <a:stretch>
            <a:fillRect/>
          </a:stretch>
        </p:blipFill>
        <p:spPr>
          <a:xfrm>
            <a:off x="4832400" y="1224500"/>
            <a:ext cx="3999900" cy="2659930"/>
          </a:xfrm>
          <a:prstGeom prst="rect">
            <a:avLst/>
          </a:prstGeom>
          <a:noFill/>
          <a:ln>
            <a:noFill/>
          </a:ln>
        </p:spPr>
      </p:pic>
      <p:sp>
        <p:nvSpPr>
          <p:cNvPr id="205" name="Google Shape;205;p45"/>
          <p:cNvSpPr txBox="1"/>
          <p:nvPr/>
        </p:nvSpPr>
        <p:spPr>
          <a:xfrm>
            <a:off x="4832400" y="3884425"/>
            <a:ext cx="3999900" cy="35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a:solidFill>
                  <a:schemeClr val="dk2"/>
                </a:solidFill>
              </a:rPr>
              <a:t>D - это значение частной производной, или крутизна склона, learning rate - скорость движения, D*lr - длина шага.</a:t>
            </a:r>
            <a:endParaRPr>
              <a:solidFill>
                <a:schemeClr val="dk2"/>
              </a:solidFill>
            </a:endParaRPr>
          </a:p>
        </p:txBody>
      </p:sp>
      <p:sp>
        <p:nvSpPr>
          <p:cNvPr id="206" name="Google Shape;206;p45"/>
          <p:cNvSpPr txBox="1"/>
          <p:nvPr/>
        </p:nvSpPr>
        <p:spPr>
          <a:xfrm>
            <a:off x="4632000" y="4655350"/>
            <a:ext cx="4512000" cy="22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900">
                <a:solidFill>
                  <a:schemeClr val="dk2"/>
                </a:solidFill>
              </a:rPr>
              <a:t>Картинка: </a:t>
            </a:r>
            <a:r>
              <a:rPr lang="ru" sz="900" u="sng">
                <a:solidFill>
                  <a:schemeClr val="hlink"/>
                </a:solidFill>
                <a:hlinkClick r:id="rId4"/>
              </a:rPr>
              <a:t>https://towardsdatascience.com/linear-regression-using-gradient-descent-97a6c8700931</a:t>
            </a:r>
            <a:r>
              <a:rPr lang="ru" sz="900">
                <a:solidFill>
                  <a:schemeClr val="dk2"/>
                </a:solidFill>
              </a:rPr>
              <a:t> </a:t>
            </a:r>
            <a:endParaRPr sz="900">
              <a:solidFill>
                <a:schemeClr val="dk2"/>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Оптимизация: градиентный спуск</a:t>
            </a:r>
            <a:endParaRPr/>
          </a:p>
        </p:txBody>
      </p:sp>
      <p:sp>
        <p:nvSpPr>
          <p:cNvPr id="212" name="Google Shape;212;p46"/>
          <p:cNvSpPr txBox="1"/>
          <p:nvPr>
            <p:ph idx="1" type="body"/>
          </p:nvPr>
        </p:nvSpPr>
        <p:spPr>
          <a:xfrm>
            <a:off x="311700" y="1152475"/>
            <a:ext cx="4260300" cy="3911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1600"/>
              <a:t>Идея: мы берем частную производную функции потерь по каждому из весов. Получаем градиент - вектор из частных производных. Потом к каждому весу прибавляем значение этой производной, но не всё полностью, а умноженное на некое небольшое число (learning rate), чтобы не проскочить минимум. Потом вычисляем новый лосс, пока не дойдем* до 0.</a:t>
            </a:r>
            <a:endParaRPr sz="1600"/>
          </a:p>
          <a:p>
            <a:pPr indent="0" lvl="0" marL="0" rtl="0" algn="l">
              <a:spcBef>
                <a:spcPts val="1200"/>
              </a:spcBef>
              <a:spcAft>
                <a:spcPts val="1200"/>
              </a:spcAft>
              <a:buNone/>
            </a:pPr>
            <a:r>
              <a:rPr lang="ru"/>
              <a:t>* стоит сказать, что на самом деле количество подобных проходов, или эпох, ограничено. </a:t>
            </a:r>
            <a:endParaRPr/>
          </a:p>
        </p:txBody>
      </p:sp>
      <p:sp>
        <p:nvSpPr>
          <p:cNvPr id="213" name="Google Shape;213;p46"/>
          <p:cNvSpPr txBox="1"/>
          <p:nvPr/>
        </p:nvSpPr>
        <p:spPr>
          <a:xfrm>
            <a:off x="4832400" y="3884425"/>
            <a:ext cx="3999900" cy="35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2"/>
              </a:solidFill>
            </a:endParaRPr>
          </a:p>
        </p:txBody>
      </p:sp>
      <p:sp>
        <p:nvSpPr>
          <p:cNvPr id="214" name="Google Shape;214;p46"/>
          <p:cNvSpPr txBox="1"/>
          <p:nvPr/>
        </p:nvSpPr>
        <p:spPr>
          <a:xfrm>
            <a:off x="4632000" y="4655350"/>
            <a:ext cx="4512000" cy="22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900">
                <a:solidFill>
                  <a:schemeClr val="dk2"/>
                </a:solidFill>
              </a:rPr>
              <a:t>Gif: Jacopo Bertolotti, </a:t>
            </a:r>
            <a:r>
              <a:rPr lang="ru" sz="900" u="sng">
                <a:solidFill>
                  <a:schemeClr val="hlink"/>
                </a:solidFill>
                <a:hlinkClick r:id="rId3"/>
              </a:rPr>
              <a:t>https://commons.wikimedia.org/wiki/File:Gradient_descent.gif</a:t>
            </a:r>
            <a:r>
              <a:rPr lang="ru" sz="900">
                <a:solidFill>
                  <a:schemeClr val="dk2"/>
                </a:solidFill>
              </a:rPr>
              <a:t> </a:t>
            </a:r>
            <a:endParaRPr sz="900">
              <a:solidFill>
                <a:schemeClr val="dk2"/>
              </a:solidFill>
            </a:endParaRPr>
          </a:p>
        </p:txBody>
      </p:sp>
      <p:pic>
        <p:nvPicPr>
          <p:cNvPr id="215" name="Google Shape;215;p46" title="Gradient_descent.gif"/>
          <p:cNvPicPr preferRelativeResize="0"/>
          <p:nvPr/>
        </p:nvPicPr>
        <p:blipFill>
          <a:blip r:embed="rId4">
            <a:alphaModFix/>
          </a:blip>
          <a:stretch>
            <a:fillRect/>
          </a:stretch>
        </p:blipFill>
        <p:spPr>
          <a:xfrm>
            <a:off x="5199850" y="1555588"/>
            <a:ext cx="3158507" cy="25619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47"/>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ru"/>
              <a:t>Другие виды регрессий</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Непараметрическая регрессия</a:t>
            </a:r>
            <a:endParaRPr/>
          </a:p>
        </p:txBody>
      </p:sp>
      <p:sp>
        <p:nvSpPr>
          <p:cNvPr id="226" name="Google Shape;226;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a:t>Есть виды регрессии, в которых предиктор не принимает заранее определенную форму (например, прямой), а собирается на основе информации, выделенной из данных.</a:t>
            </a:r>
            <a:endParaRPr/>
          </a:p>
          <a:p>
            <a:pPr indent="0" lvl="0" marL="0" rtl="0" algn="l">
              <a:spcBef>
                <a:spcPts val="1200"/>
              </a:spcBef>
              <a:spcAft>
                <a:spcPts val="0"/>
              </a:spcAft>
              <a:buNone/>
            </a:pPr>
            <a:r>
              <a:rPr lang="ru"/>
              <a:t>Примеры:</a:t>
            </a:r>
            <a:endParaRPr/>
          </a:p>
          <a:p>
            <a:pPr indent="-342900" lvl="0" marL="457200" rtl="0" algn="l">
              <a:spcBef>
                <a:spcPts val="1200"/>
              </a:spcBef>
              <a:spcAft>
                <a:spcPts val="0"/>
              </a:spcAft>
              <a:buSzPts val="1800"/>
              <a:buChar char="●"/>
            </a:pPr>
            <a:r>
              <a:rPr lang="ru"/>
              <a:t>kNN для регрессий;</a:t>
            </a:r>
            <a:endParaRPr/>
          </a:p>
          <a:p>
            <a:pPr indent="-342900" lvl="0" marL="457200" rtl="0" algn="l">
              <a:spcBef>
                <a:spcPts val="0"/>
              </a:spcBef>
              <a:spcAft>
                <a:spcPts val="0"/>
              </a:spcAft>
              <a:buSzPts val="1800"/>
              <a:buChar char="●"/>
            </a:pPr>
            <a:r>
              <a:rPr lang="ru"/>
              <a:t>Деревья принятия решений;</a:t>
            </a:r>
            <a:endParaRPr/>
          </a:p>
          <a:p>
            <a:pPr indent="-342900" lvl="0" marL="457200" rtl="0" algn="l">
              <a:spcBef>
                <a:spcPts val="0"/>
              </a:spcBef>
              <a:spcAft>
                <a:spcPts val="0"/>
              </a:spcAft>
              <a:buSzPts val="1800"/>
              <a:buChar char="●"/>
            </a:pPr>
            <a:r>
              <a:rPr lang="ru"/>
              <a: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Полиномиальная регрессия</a:t>
            </a:r>
            <a:endParaRPr/>
          </a:p>
        </p:txBody>
      </p:sp>
      <p:sp>
        <p:nvSpPr>
          <p:cNvPr id="232" name="Google Shape;232;p4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800"/>
              <a:t>Это регрессия вида:</a:t>
            </a:r>
            <a:endParaRPr sz="1800"/>
          </a:p>
          <a:p>
            <a:pPr indent="0" lvl="0" marL="0" rtl="0" algn="l">
              <a:spcBef>
                <a:spcPts val="1200"/>
              </a:spcBef>
              <a:spcAft>
                <a:spcPts val="0"/>
              </a:spcAft>
              <a:buNone/>
            </a:pPr>
            <a:r>
              <a:t/>
            </a:r>
            <a:endParaRPr sz="1800"/>
          </a:p>
          <a:p>
            <a:pPr indent="0" lvl="0" marL="0" rtl="0" algn="l">
              <a:spcBef>
                <a:spcPts val="1200"/>
              </a:spcBef>
              <a:spcAft>
                <a:spcPts val="0"/>
              </a:spcAft>
              <a:buNone/>
            </a:pPr>
            <a:r>
              <a:rPr lang="ru" sz="1800"/>
              <a:t>Степенью этого уравнения будет максимальная степень n.</a:t>
            </a:r>
            <a:endParaRPr sz="1800"/>
          </a:p>
          <a:p>
            <a:pPr indent="0" lvl="0" marL="0" rtl="0" algn="l">
              <a:spcBef>
                <a:spcPts val="1200"/>
              </a:spcBef>
              <a:spcAft>
                <a:spcPts val="0"/>
              </a:spcAft>
              <a:buNone/>
            </a:pPr>
            <a:r>
              <a:rPr lang="ru" sz="1800"/>
              <a:t>Полиномиальные регрессии помогают, когда зависимость между переменными нельзя выразить линией.</a:t>
            </a:r>
            <a:endParaRPr sz="1800"/>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233" name="Google Shape;233;p49"/>
          <p:cNvPicPr preferRelativeResize="0"/>
          <p:nvPr/>
        </p:nvPicPr>
        <p:blipFill>
          <a:blip r:embed="rId3">
            <a:alphaModFix/>
          </a:blip>
          <a:stretch>
            <a:fillRect/>
          </a:stretch>
        </p:blipFill>
        <p:spPr>
          <a:xfrm>
            <a:off x="4832400" y="1152475"/>
            <a:ext cx="3767375" cy="2605825"/>
          </a:xfrm>
          <a:prstGeom prst="rect">
            <a:avLst/>
          </a:prstGeom>
          <a:noFill/>
          <a:ln>
            <a:noFill/>
          </a:ln>
        </p:spPr>
      </p:pic>
      <p:sp>
        <p:nvSpPr>
          <p:cNvPr id="234" name="Google Shape;234;p49"/>
          <p:cNvSpPr txBox="1"/>
          <p:nvPr/>
        </p:nvSpPr>
        <p:spPr>
          <a:xfrm>
            <a:off x="4483038" y="4072100"/>
            <a:ext cx="4466100" cy="62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900">
                <a:solidFill>
                  <a:schemeClr val="dk2"/>
                </a:solidFill>
              </a:rPr>
              <a:t>Картинка: </a:t>
            </a:r>
            <a:r>
              <a:rPr lang="ru" sz="900" u="sng">
                <a:solidFill>
                  <a:schemeClr val="hlink"/>
                </a:solidFill>
                <a:hlinkClick r:id="rId4"/>
              </a:rPr>
              <a:t>https://jakevdp.github.io/PythonDataScienceHandbook/05.06-linear-regression.html</a:t>
            </a:r>
            <a:r>
              <a:rPr lang="ru" sz="900">
                <a:solidFill>
                  <a:schemeClr val="dk2"/>
                </a:solidFill>
              </a:rPr>
              <a:t> </a:t>
            </a:r>
            <a:endParaRPr sz="900">
              <a:solidFill>
                <a:schemeClr val="dk2"/>
              </a:solidFill>
            </a:endParaRPr>
          </a:p>
        </p:txBody>
      </p:sp>
      <p:pic>
        <p:nvPicPr>
          <p:cNvPr id="235" name="Google Shape;235;p49" title="[0,0,0,&quot;https://www.codecogs.com/eqnedit.php?latex=%20y%20%3D%20w_0%20%2B%20w_1x_1%20%2B%20w_2x_2%5E2%20%2B%20%5B...%5D%20%2B%20w_ix_i%5En%20#0&quot;]"/>
          <p:cNvPicPr preferRelativeResize="0"/>
          <p:nvPr/>
        </p:nvPicPr>
        <p:blipFill>
          <a:blip r:embed="rId5">
            <a:alphaModFix/>
          </a:blip>
          <a:stretch>
            <a:fillRect/>
          </a:stretch>
        </p:blipFill>
        <p:spPr>
          <a:xfrm>
            <a:off x="450350" y="1707100"/>
            <a:ext cx="3861250" cy="28361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Полиномиальная регрессия</a:t>
            </a:r>
            <a:endParaRPr/>
          </a:p>
        </p:txBody>
      </p:sp>
      <p:sp>
        <p:nvSpPr>
          <p:cNvPr id="241" name="Google Shape;241;p5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Как решается такое выражение?</a:t>
            </a:r>
            <a:endParaRPr/>
          </a:p>
          <a:p>
            <a:pPr indent="0" lvl="0" marL="0" rtl="0" algn="l">
              <a:spcBef>
                <a:spcPts val="1200"/>
              </a:spcBef>
              <a:spcAft>
                <a:spcPts val="0"/>
              </a:spcAft>
              <a:buNone/>
            </a:pPr>
            <a:r>
              <a:t/>
            </a:r>
            <a:endParaRPr/>
          </a:p>
          <a:p>
            <a:pPr indent="0" lvl="0" marL="0" rtl="0" algn="l">
              <a:spcBef>
                <a:spcPts val="1200"/>
              </a:spcBef>
              <a:spcAft>
                <a:spcPts val="0"/>
              </a:spcAft>
              <a:buNone/>
            </a:pPr>
            <a:r>
              <a:rPr lang="ru"/>
              <a:t>Ответ: признаки преображаются в новые признаки:</a:t>
            </a:r>
            <a:endParaRPr/>
          </a:p>
          <a:p>
            <a:pPr indent="0" lvl="0" marL="0" rtl="0" algn="l">
              <a:spcBef>
                <a:spcPts val="1200"/>
              </a:spcBef>
              <a:spcAft>
                <a:spcPts val="0"/>
              </a:spcAft>
              <a:buNone/>
            </a:pPr>
            <a:r>
              <a:t/>
            </a:r>
            <a:endParaRPr/>
          </a:p>
          <a:p>
            <a:pPr indent="0" lvl="0" marL="0" rtl="0" algn="l">
              <a:lnSpc>
                <a:spcPct val="100000"/>
              </a:lnSpc>
              <a:spcBef>
                <a:spcPts val="120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a:p>
            <a:pPr indent="0" lvl="0" marL="0" rtl="0" algn="l">
              <a:spcBef>
                <a:spcPts val="1200"/>
              </a:spcBef>
              <a:spcAft>
                <a:spcPts val="1200"/>
              </a:spcAft>
              <a:buNone/>
            </a:pPr>
            <a:r>
              <a:t/>
            </a:r>
            <a:endParaRPr/>
          </a:p>
        </p:txBody>
      </p:sp>
      <p:pic>
        <p:nvPicPr>
          <p:cNvPr id="242" name="Google Shape;242;p50" title="[0,0,0,&quot;https://www.codecogs.com/eqnedit.php?latex=%20z_n%20%3D%20%5Bx_1%2C%20x_2%5E2%2C%20%5B...%5D%2C%20x_n%5En%5D%20#0&quot;]"/>
          <p:cNvPicPr preferRelativeResize="0"/>
          <p:nvPr/>
        </p:nvPicPr>
        <p:blipFill>
          <a:blip r:embed="rId3">
            <a:alphaModFix/>
          </a:blip>
          <a:stretch>
            <a:fillRect/>
          </a:stretch>
        </p:blipFill>
        <p:spPr>
          <a:xfrm>
            <a:off x="457675" y="2703775"/>
            <a:ext cx="2775200" cy="373925"/>
          </a:xfrm>
          <a:prstGeom prst="rect">
            <a:avLst/>
          </a:prstGeom>
          <a:noFill/>
          <a:ln>
            <a:noFill/>
          </a:ln>
        </p:spPr>
      </p:pic>
      <p:pic>
        <p:nvPicPr>
          <p:cNvPr id="243" name="Google Shape;243;p50" title="[0,0,0,&quot;https://www.codecogs.com/eqnedit.php?latex=%20y%20%3D%20w_0%20%2B%20w_1x_1%20%2B%20w_2x_2%5E2%20%2B%20%5B...%5D%20%2B%20w_ix_i%5En%20#0&quot;]"/>
          <p:cNvPicPr preferRelativeResize="0"/>
          <p:nvPr/>
        </p:nvPicPr>
        <p:blipFill>
          <a:blip r:embed="rId4">
            <a:alphaModFix/>
          </a:blip>
          <a:stretch>
            <a:fillRect/>
          </a:stretch>
        </p:blipFill>
        <p:spPr>
          <a:xfrm>
            <a:off x="409375" y="1743600"/>
            <a:ext cx="3981544" cy="292450"/>
          </a:xfrm>
          <a:prstGeom prst="rect">
            <a:avLst/>
          </a:prstGeom>
          <a:noFill/>
          <a:ln>
            <a:noFill/>
          </a:ln>
        </p:spPr>
      </p:pic>
      <p:pic>
        <p:nvPicPr>
          <p:cNvPr id="244" name="Google Shape;244;p50" title="[0,0,0,&quot;https://www.codecogs.com/eqnedit.php?latex=%20y%20%3D%20w_0%20%2B%20w_1z_1%20%2B%20w_2z_2%20%2B%20%5B...%5D%20%2B%20w_iz_n%20#0&quot;]"/>
          <p:cNvPicPr preferRelativeResize="0"/>
          <p:nvPr/>
        </p:nvPicPr>
        <p:blipFill>
          <a:blip r:embed="rId5">
            <a:alphaModFix/>
          </a:blip>
          <a:stretch>
            <a:fillRect/>
          </a:stretch>
        </p:blipFill>
        <p:spPr>
          <a:xfrm>
            <a:off x="457675" y="3378275"/>
            <a:ext cx="4316553" cy="2924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51"/>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ru"/>
              <a:t>Валидация - общая терминология</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Обучение и переобучение</a:t>
            </a:r>
            <a:endParaRPr/>
          </a:p>
        </p:txBody>
      </p:sp>
      <p:sp>
        <p:nvSpPr>
          <p:cNvPr id="255" name="Google Shape;255;p52"/>
          <p:cNvSpPr txBox="1"/>
          <p:nvPr>
            <p:ph idx="1" type="body"/>
          </p:nvPr>
        </p:nvSpPr>
        <p:spPr>
          <a:xfrm>
            <a:off x="311700" y="1152475"/>
            <a:ext cx="8520600" cy="36309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SzPts val="1800"/>
              <a:buChar char="●"/>
            </a:pPr>
            <a:r>
              <a:rPr lang="ru"/>
              <a:t>Underfitting: недообучение, недостаточная обобщающая способность модели;</a:t>
            </a:r>
            <a:endParaRPr/>
          </a:p>
          <a:p>
            <a:pPr indent="-342900" lvl="0" marL="457200" rtl="0" algn="l">
              <a:spcBef>
                <a:spcPts val="1000"/>
              </a:spcBef>
              <a:spcAft>
                <a:spcPts val="0"/>
              </a:spcAft>
              <a:buSzPts val="1800"/>
              <a:buChar char="●"/>
            </a:pPr>
            <a:r>
              <a:rPr lang="ru"/>
              <a:t>Overfitting: переобучение. Модель слишком хорошо выучивает тренировочные данные и теряет предсказательную способность на тестовых. В широком смысле переобучением называют любой случай, при котором качество предсказаний модели искусственно завышается;</a:t>
            </a:r>
            <a:endParaRPr/>
          </a:p>
          <a:p>
            <a:pPr indent="-342900" lvl="0" marL="457200" rtl="0" algn="l">
              <a:spcBef>
                <a:spcPts val="1000"/>
              </a:spcBef>
              <a:spcAft>
                <a:spcPts val="0"/>
              </a:spcAft>
              <a:buSzPts val="1800"/>
              <a:buChar char="●"/>
            </a:pPr>
            <a:r>
              <a:rPr lang="ru"/>
              <a:t>Bias: смещение. Показывает, насколько сильно средний ответ алгоритма отличается от «идеального предсказания»;</a:t>
            </a:r>
            <a:endParaRPr/>
          </a:p>
          <a:p>
            <a:pPr indent="-342900" lvl="0" marL="457200" rtl="0" algn="l">
              <a:spcBef>
                <a:spcPts val="1000"/>
              </a:spcBef>
              <a:spcAft>
                <a:spcPts val="1000"/>
              </a:spcAft>
              <a:buSzPts val="1800"/>
              <a:buChar char="●"/>
            </a:pPr>
            <a:r>
              <a:rPr lang="ru"/>
              <a:t>Variance: дисперсия/разброс. Показывает чувствительность модели к изменениям в обучающих данных.</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Bias-variance tradeoff</a:t>
            </a:r>
            <a:endParaRPr/>
          </a:p>
        </p:txBody>
      </p:sp>
      <p:pic>
        <p:nvPicPr>
          <p:cNvPr id="261" name="Google Shape;261;p53"/>
          <p:cNvPicPr preferRelativeResize="0"/>
          <p:nvPr/>
        </p:nvPicPr>
        <p:blipFill>
          <a:blip r:embed="rId3">
            <a:alphaModFix/>
          </a:blip>
          <a:stretch>
            <a:fillRect/>
          </a:stretch>
        </p:blipFill>
        <p:spPr>
          <a:xfrm>
            <a:off x="669925" y="1248900"/>
            <a:ext cx="7509701" cy="3000675"/>
          </a:xfrm>
          <a:prstGeom prst="rect">
            <a:avLst/>
          </a:prstGeom>
          <a:noFill/>
          <a:ln>
            <a:noFill/>
          </a:ln>
        </p:spPr>
      </p:pic>
      <p:sp>
        <p:nvSpPr>
          <p:cNvPr id="262" name="Google Shape;262;p53"/>
          <p:cNvSpPr txBox="1"/>
          <p:nvPr/>
        </p:nvSpPr>
        <p:spPr>
          <a:xfrm>
            <a:off x="316975" y="4480750"/>
            <a:ext cx="8068200" cy="25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900">
                <a:solidFill>
                  <a:schemeClr val="dk2"/>
                </a:solidFill>
              </a:rPr>
              <a:t>Картинка нарисована по коду отсюда: </a:t>
            </a:r>
            <a:r>
              <a:rPr lang="ru" sz="900" u="sng">
                <a:solidFill>
                  <a:schemeClr val="hlink"/>
                </a:solidFill>
                <a:hlinkClick r:id="rId4"/>
              </a:rPr>
              <a:t>https://jakevdp.github.io/PythonDataScienceHandbook/06.00-figure-code.html#Bias-Variance-Tradeoff</a:t>
            </a:r>
            <a:r>
              <a:rPr lang="ru" sz="900">
                <a:solidFill>
                  <a:schemeClr val="dk2"/>
                </a:solidFill>
              </a:rPr>
              <a:t>. </a:t>
            </a:r>
            <a:r>
              <a:rPr lang="ru" sz="900">
                <a:solidFill>
                  <a:schemeClr val="dk1"/>
                </a:solidFill>
              </a:rPr>
              <a:t>Степени полиномов: 1, 3, 20</a:t>
            </a:r>
            <a:r>
              <a:rPr lang="ru" sz="900">
                <a:solidFill>
                  <a:schemeClr val="dk2"/>
                </a:solidFill>
              </a:rPr>
              <a:t>.</a:t>
            </a:r>
            <a:endParaRPr sz="900">
              <a:solidFill>
                <a:schemeClr val="dk2"/>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Bias-variance tradeoff</a:t>
            </a:r>
            <a:endParaRPr/>
          </a:p>
        </p:txBody>
      </p:sp>
      <p:sp>
        <p:nvSpPr>
          <p:cNvPr id="268" name="Google Shape;268;p54"/>
          <p:cNvSpPr txBox="1"/>
          <p:nvPr/>
        </p:nvSpPr>
        <p:spPr>
          <a:xfrm>
            <a:off x="316975" y="4480750"/>
            <a:ext cx="8068200" cy="25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900">
                <a:solidFill>
                  <a:schemeClr val="dk2"/>
                </a:solidFill>
              </a:rPr>
              <a:t>Картинка нарисована по коду отсюда: </a:t>
            </a:r>
            <a:r>
              <a:rPr lang="ru" sz="900" u="sng">
                <a:solidFill>
                  <a:schemeClr val="hlink"/>
                </a:solidFill>
                <a:hlinkClick r:id="rId3"/>
              </a:rPr>
              <a:t>https://jakevdp.github.io/PythonDataScienceHandbook/06.00-figure-code.html#Bias-Variance-Tradeoff-Metrics</a:t>
            </a:r>
            <a:r>
              <a:rPr lang="ru" sz="900">
                <a:solidFill>
                  <a:schemeClr val="dk2"/>
                </a:solidFill>
              </a:rPr>
              <a:t>. Степени полиномов: 1, 3, 20.</a:t>
            </a:r>
            <a:endParaRPr sz="900">
              <a:solidFill>
                <a:schemeClr val="dk2"/>
              </a:solidFill>
            </a:endParaRPr>
          </a:p>
        </p:txBody>
      </p:sp>
      <p:pic>
        <p:nvPicPr>
          <p:cNvPr id="269" name="Google Shape;269;p54"/>
          <p:cNvPicPr preferRelativeResize="0"/>
          <p:nvPr/>
        </p:nvPicPr>
        <p:blipFill>
          <a:blip r:embed="rId4">
            <a:alphaModFix/>
          </a:blip>
          <a:stretch>
            <a:fillRect/>
          </a:stretch>
        </p:blipFill>
        <p:spPr>
          <a:xfrm>
            <a:off x="311700" y="1164379"/>
            <a:ext cx="8520599" cy="298939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Зачем это знать?</a:t>
            </a:r>
            <a:endParaRPr/>
          </a:p>
        </p:txBody>
      </p:sp>
      <p:sp>
        <p:nvSpPr>
          <p:cNvPr id="275" name="Google Shape;275;p55"/>
          <p:cNvSpPr txBox="1"/>
          <p:nvPr>
            <p:ph idx="1" type="body"/>
          </p:nvPr>
        </p:nvSpPr>
        <p:spPr>
          <a:xfrm>
            <a:off x="311700" y="1152475"/>
            <a:ext cx="4672800" cy="3416400"/>
          </a:xfrm>
          <a:prstGeom prst="rect">
            <a:avLst/>
          </a:prstGeom>
        </p:spPr>
        <p:txBody>
          <a:bodyPr anchorCtr="0" anchor="t" bIns="91425" lIns="91425" spcFirstLastPara="1" rIns="91425" wrap="square" tIns="91425">
            <a:normAutofit/>
          </a:bodyPr>
          <a:lstStyle/>
          <a:p>
            <a:pPr indent="0" lvl="0" marL="0" rtl="0" algn="l">
              <a:spcBef>
                <a:spcPts val="1400"/>
              </a:spcBef>
              <a:spcAft>
                <a:spcPts val="0"/>
              </a:spcAft>
              <a:buNone/>
            </a:pPr>
            <a:r>
              <a:rPr lang="ru" sz="1500"/>
              <a:t>Чтобы найти лучшую модель.</a:t>
            </a:r>
            <a:endParaRPr sz="1500"/>
          </a:p>
          <a:p>
            <a:pPr indent="-304800" lvl="0" marL="457200" rtl="0" algn="l">
              <a:spcBef>
                <a:spcPts val="1400"/>
              </a:spcBef>
              <a:spcAft>
                <a:spcPts val="0"/>
              </a:spcAft>
              <a:buClr>
                <a:schemeClr val="dk1"/>
              </a:buClr>
              <a:buSzPts val="1200"/>
              <a:buChar char="●"/>
            </a:pPr>
            <a:r>
              <a:rPr lang="ru" sz="1500"/>
              <a:t>При большом смещении качество во время тренировки близко к качеству на валидации, но, как правило, достаточно малó;</a:t>
            </a:r>
            <a:endParaRPr sz="1500"/>
          </a:p>
          <a:p>
            <a:pPr indent="-304800" lvl="0" marL="457200" rtl="0" algn="l">
              <a:spcBef>
                <a:spcPts val="1400"/>
              </a:spcBef>
              <a:spcAft>
                <a:spcPts val="0"/>
              </a:spcAft>
              <a:buClr>
                <a:schemeClr val="dk1"/>
              </a:buClr>
              <a:buSzPts val="1200"/>
              <a:buChar char="●"/>
            </a:pPr>
            <a:r>
              <a:rPr lang="ru" sz="1500"/>
              <a:t>При большой дисперсии качество на тренировочной выборке растет, а на валидационной со временем уменьшается.</a:t>
            </a:r>
            <a:endParaRPr sz="1500"/>
          </a:p>
          <a:p>
            <a:pPr indent="0" lvl="0" marL="0" rtl="0" algn="l">
              <a:spcBef>
                <a:spcPts val="1400"/>
              </a:spcBef>
              <a:spcAft>
                <a:spcPts val="1000"/>
              </a:spcAft>
              <a:buNone/>
            </a:pPr>
            <a:r>
              <a:rPr lang="ru" sz="1500"/>
              <a:t>=&gt; Нужно выбирать что-то среднее.</a:t>
            </a:r>
            <a:endParaRPr sz="1500"/>
          </a:p>
        </p:txBody>
      </p:sp>
      <p:sp>
        <p:nvSpPr>
          <p:cNvPr id="276" name="Google Shape;276;p55"/>
          <p:cNvSpPr txBox="1"/>
          <p:nvPr/>
        </p:nvSpPr>
        <p:spPr>
          <a:xfrm>
            <a:off x="311700" y="4265500"/>
            <a:ext cx="5149800" cy="53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900">
                <a:solidFill>
                  <a:schemeClr val="dk2"/>
                </a:solidFill>
              </a:rPr>
              <a:t>Код картинок:</a:t>
            </a:r>
            <a:endParaRPr sz="900">
              <a:solidFill>
                <a:schemeClr val="dk2"/>
              </a:solidFill>
            </a:endParaRPr>
          </a:p>
          <a:p>
            <a:pPr indent="0" lvl="0" marL="0" rtl="0" algn="l">
              <a:spcBef>
                <a:spcPts val="0"/>
              </a:spcBef>
              <a:spcAft>
                <a:spcPts val="0"/>
              </a:spcAft>
              <a:buNone/>
            </a:pPr>
            <a:r>
              <a:rPr lang="ru" sz="900" u="sng">
                <a:solidFill>
                  <a:schemeClr val="hlink"/>
                </a:solidFill>
                <a:hlinkClick r:id="rId3"/>
              </a:rPr>
              <a:t>https://jakevdp.github.io/PythonDataScienceHandbook/06.00-figure-code.html#Validation-Curve</a:t>
            </a:r>
            <a:r>
              <a:rPr lang="ru" sz="900">
                <a:solidFill>
                  <a:schemeClr val="dk2"/>
                </a:solidFill>
              </a:rPr>
              <a:t>;</a:t>
            </a:r>
            <a:endParaRPr sz="900">
              <a:solidFill>
                <a:schemeClr val="dk2"/>
              </a:solidFill>
            </a:endParaRPr>
          </a:p>
          <a:p>
            <a:pPr indent="0" lvl="0" marL="0" rtl="0" algn="l">
              <a:spcBef>
                <a:spcPts val="0"/>
              </a:spcBef>
              <a:spcAft>
                <a:spcPts val="0"/>
              </a:spcAft>
              <a:buNone/>
            </a:pPr>
            <a:r>
              <a:rPr lang="ru" sz="900" u="sng">
                <a:solidFill>
                  <a:schemeClr val="hlink"/>
                </a:solidFill>
                <a:hlinkClick r:id="rId4"/>
              </a:rPr>
              <a:t>https://jakevdp.github.io/PythonDataScienceHandbook/05.03-hyperparameters-and-model-validation.html#Learning-curves-in-Scikit-Learn</a:t>
            </a:r>
            <a:r>
              <a:rPr lang="ru" sz="900">
                <a:solidFill>
                  <a:schemeClr val="dk2"/>
                </a:solidFill>
              </a:rPr>
              <a:t>  </a:t>
            </a:r>
            <a:endParaRPr sz="900">
              <a:solidFill>
                <a:schemeClr val="dk2"/>
              </a:solidFill>
            </a:endParaRPr>
          </a:p>
          <a:p>
            <a:pPr indent="0" lvl="0" marL="0" rtl="0" algn="l">
              <a:spcBef>
                <a:spcPts val="0"/>
              </a:spcBef>
              <a:spcAft>
                <a:spcPts val="0"/>
              </a:spcAft>
              <a:buNone/>
            </a:pPr>
            <a:r>
              <a:t/>
            </a:r>
            <a:endParaRPr sz="900">
              <a:solidFill>
                <a:schemeClr val="dk2"/>
              </a:solidFill>
            </a:endParaRPr>
          </a:p>
        </p:txBody>
      </p:sp>
      <p:pic>
        <p:nvPicPr>
          <p:cNvPr id="277" name="Google Shape;277;p55"/>
          <p:cNvPicPr preferRelativeResize="0"/>
          <p:nvPr/>
        </p:nvPicPr>
        <p:blipFill>
          <a:blip r:embed="rId5">
            <a:alphaModFix/>
          </a:blip>
          <a:stretch>
            <a:fillRect/>
          </a:stretch>
        </p:blipFill>
        <p:spPr>
          <a:xfrm>
            <a:off x="5559000" y="189575"/>
            <a:ext cx="3201500" cy="2473550"/>
          </a:xfrm>
          <a:prstGeom prst="rect">
            <a:avLst/>
          </a:prstGeom>
          <a:noFill/>
          <a:ln>
            <a:noFill/>
          </a:ln>
        </p:spPr>
      </p:pic>
      <p:pic>
        <p:nvPicPr>
          <p:cNvPr id="278" name="Google Shape;278;p55"/>
          <p:cNvPicPr preferRelativeResize="0"/>
          <p:nvPr/>
        </p:nvPicPr>
        <p:blipFill>
          <a:blip r:embed="rId6">
            <a:alphaModFix/>
          </a:blip>
          <a:stretch>
            <a:fillRect/>
          </a:stretch>
        </p:blipFill>
        <p:spPr>
          <a:xfrm>
            <a:off x="5461501" y="2710504"/>
            <a:ext cx="3299000" cy="227339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Как предотвратить переобучение и недообучение</a:t>
            </a:r>
            <a:endParaRPr/>
          </a:p>
        </p:txBody>
      </p:sp>
      <p:sp>
        <p:nvSpPr>
          <p:cNvPr id="284" name="Google Shape;284;p56"/>
          <p:cNvSpPr txBox="1"/>
          <p:nvPr>
            <p:ph idx="1" type="body"/>
          </p:nvPr>
        </p:nvSpPr>
        <p:spPr>
          <a:xfrm>
            <a:off x="311700" y="1152475"/>
            <a:ext cx="4147500" cy="3846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1800"/>
              <a:t>Переобучение:</a:t>
            </a:r>
            <a:endParaRPr sz="1800"/>
          </a:p>
          <a:p>
            <a:pPr indent="-342900" lvl="0" marL="457200" rtl="0" algn="l">
              <a:spcBef>
                <a:spcPts val="1200"/>
              </a:spcBef>
              <a:spcAft>
                <a:spcPts val="0"/>
              </a:spcAft>
              <a:buSzPts val="1800"/>
              <a:buChar char="●"/>
            </a:pPr>
            <a:r>
              <a:rPr lang="ru" sz="1800"/>
              <a:t>Регуляризовать модель;</a:t>
            </a:r>
            <a:endParaRPr sz="1800"/>
          </a:p>
          <a:p>
            <a:pPr indent="-342900" lvl="0" marL="457200" rtl="0" algn="l">
              <a:spcBef>
                <a:spcPts val="0"/>
              </a:spcBef>
              <a:spcAft>
                <a:spcPts val="0"/>
              </a:spcAft>
              <a:buSzPts val="1800"/>
              <a:buChar char="●"/>
            </a:pPr>
            <a:r>
              <a:rPr lang="ru" sz="1800"/>
              <a:t>Добавить данных;</a:t>
            </a:r>
            <a:endParaRPr sz="1800"/>
          </a:p>
          <a:p>
            <a:pPr indent="-342900" lvl="0" marL="457200" rtl="0" algn="l">
              <a:spcBef>
                <a:spcPts val="0"/>
              </a:spcBef>
              <a:spcAft>
                <a:spcPts val="0"/>
              </a:spcAft>
              <a:buSzPts val="1800"/>
              <a:buChar char="●"/>
            </a:pPr>
            <a:r>
              <a:rPr lang="ru" sz="1800"/>
              <a:t>Не позволять знаниям из тестового множества проникать в тренировочное. </a:t>
            </a:r>
            <a:r>
              <a:rPr b="1" lang="ru" sz="1800"/>
              <a:t>Простейшее решение</a:t>
            </a:r>
            <a:r>
              <a:rPr lang="ru" sz="1800"/>
              <a:t> - иметь три выборки: тренировочную, валидационную и тестовую, и никогда не менять модель, исходя только из результатов на тесте.</a:t>
            </a:r>
            <a:endParaRPr sz="1800"/>
          </a:p>
        </p:txBody>
      </p:sp>
      <p:sp>
        <p:nvSpPr>
          <p:cNvPr id="285" name="Google Shape;285;p56"/>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1800"/>
              <a:t>Недообучение:</a:t>
            </a:r>
            <a:endParaRPr sz="1800"/>
          </a:p>
          <a:p>
            <a:pPr indent="-342900" lvl="0" marL="457200" rtl="0" algn="l">
              <a:spcBef>
                <a:spcPts val="1200"/>
              </a:spcBef>
              <a:spcAft>
                <a:spcPts val="0"/>
              </a:spcAft>
              <a:buSzPts val="1800"/>
              <a:buChar char="●"/>
            </a:pPr>
            <a:r>
              <a:rPr lang="ru" sz="1800"/>
              <a:t>Дать модели больше времени;</a:t>
            </a:r>
            <a:endParaRPr sz="1800"/>
          </a:p>
          <a:p>
            <a:pPr indent="-342900" lvl="0" marL="457200" rtl="0" algn="l">
              <a:spcBef>
                <a:spcPts val="0"/>
              </a:spcBef>
              <a:spcAft>
                <a:spcPts val="0"/>
              </a:spcAft>
              <a:buSzPts val="1800"/>
              <a:buChar char="●"/>
            </a:pPr>
            <a:r>
              <a:rPr lang="ru" sz="1800"/>
              <a:t>Увеличить набор параметров;</a:t>
            </a:r>
            <a:endParaRPr sz="1800"/>
          </a:p>
          <a:p>
            <a:pPr indent="-342900" lvl="0" marL="457200" rtl="0" algn="l">
              <a:spcBef>
                <a:spcPts val="0"/>
              </a:spcBef>
              <a:spcAft>
                <a:spcPts val="0"/>
              </a:spcAft>
              <a:buSzPts val="1800"/>
              <a:buChar char="●"/>
            </a:pPr>
            <a:r>
              <a:rPr lang="ru" sz="1800"/>
              <a:t>Выбрать другой метод оптимизации или другую модель.</a:t>
            </a:r>
            <a:endParaRPr sz="18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Как понять, что данных достаточно?*</a:t>
            </a:r>
            <a:endParaRPr/>
          </a:p>
        </p:txBody>
      </p:sp>
      <p:sp>
        <p:nvSpPr>
          <p:cNvPr id="291" name="Google Shape;291;p5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sz="1800"/>
              <a:t>По learning curve, тренировочной кривой.</a:t>
            </a:r>
            <a:endParaRPr sz="1800"/>
          </a:p>
          <a:p>
            <a:pPr indent="0" lvl="0" marL="0" rtl="0" algn="l">
              <a:spcBef>
                <a:spcPts val="1200"/>
              </a:spcBef>
              <a:spcAft>
                <a:spcPts val="1200"/>
              </a:spcAft>
              <a:buNone/>
            </a:pPr>
            <a:r>
              <a:rPr lang="ru" sz="1800"/>
              <a:t>После прохождения точки, в которой валидационная и тренировочная кривая сближаются, добавление новых данных больше не будет улучшать модель.</a:t>
            </a:r>
            <a:endParaRPr sz="1800"/>
          </a:p>
        </p:txBody>
      </p:sp>
      <p:pic>
        <p:nvPicPr>
          <p:cNvPr id="292" name="Google Shape;292;p57"/>
          <p:cNvPicPr preferRelativeResize="0"/>
          <p:nvPr/>
        </p:nvPicPr>
        <p:blipFill>
          <a:blip r:embed="rId3">
            <a:alphaModFix/>
          </a:blip>
          <a:stretch>
            <a:fillRect/>
          </a:stretch>
        </p:blipFill>
        <p:spPr>
          <a:xfrm>
            <a:off x="4948975" y="1363826"/>
            <a:ext cx="3652325" cy="2821875"/>
          </a:xfrm>
          <a:prstGeom prst="rect">
            <a:avLst/>
          </a:prstGeom>
          <a:noFill/>
          <a:ln>
            <a:noFill/>
          </a:ln>
        </p:spPr>
      </p:pic>
      <p:sp>
        <p:nvSpPr>
          <p:cNvPr id="293" name="Google Shape;293;p57"/>
          <p:cNvSpPr txBox="1"/>
          <p:nvPr/>
        </p:nvSpPr>
        <p:spPr>
          <a:xfrm>
            <a:off x="403400" y="4444725"/>
            <a:ext cx="5028300" cy="46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ru" sz="900">
                <a:solidFill>
                  <a:schemeClr val="dk2"/>
                </a:solidFill>
              </a:rPr>
              <a:t>Код картинки: </a:t>
            </a:r>
            <a:r>
              <a:rPr lang="ru" sz="900" u="sng">
                <a:solidFill>
                  <a:schemeClr val="hlink"/>
                </a:solidFill>
                <a:hlinkClick r:id="rId4"/>
              </a:rPr>
              <a:t>https://jakevdp.github.io/PythonDataScienceHandbook/06.00-figure-code.html#Learning-Curve</a:t>
            </a:r>
            <a:r>
              <a:rPr lang="ru" sz="900">
                <a:solidFill>
                  <a:schemeClr val="dk2"/>
                </a:solidFill>
              </a:rPr>
              <a:t> </a:t>
            </a:r>
            <a:endParaRPr sz="900">
              <a:solidFill>
                <a:schemeClr val="dk2"/>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58"/>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ru"/>
              <a:t>Регуляризация - для регрессий</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Регуляризация регрессий</a:t>
            </a:r>
            <a:endParaRPr/>
          </a:p>
        </p:txBody>
      </p:sp>
      <p:sp>
        <p:nvSpPr>
          <p:cNvPr id="304" name="Google Shape;304;p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a:t>Регуляризация — метод добавления некоторых дополнительных ограничений к условию с целью решить некорректно поставленную задачу или предотвратить переобучение. (Википедия)</a:t>
            </a:r>
            <a:endParaRPr/>
          </a:p>
          <a:p>
            <a:pPr indent="0" lvl="0" marL="0" rtl="0" algn="l">
              <a:spcBef>
                <a:spcPts val="1200"/>
              </a:spcBef>
              <a:spcAft>
                <a:spcPts val="0"/>
              </a:spcAft>
              <a:buNone/>
            </a:pPr>
            <a:r>
              <a:rPr lang="ru"/>
              <a:t>NB! В широком смысле,</a:t>
            </a:r>
            <a:endParaRPr/>
          </a:p>
          <a:p>
            <a:pPr indent="-342900" lvl="0" marL="457200" rtl="0" algn="l">
              <a:spcBef>
                <a:spcPts val="1200"/>
              </a:spcBef>
              <a:spcAft>
                <a:spcPts val="0"/>
              </a:spcAft>
              <a:buSzPts val="1800"/>
              <a:buChar char="●"/>
            </a:pPr>
            <a:r>
              <a:rPr b="1" lang="ru"/>
              <a:t>Регуляризация</a:t>
            </a:r>
            <a:r>
              <a:rPr lang="ru"/>
              <a:t> - предотвращение переобучения,</a:t>
            </a:r>
            <a:endParaRPr/>
          </a:p>
          <a:p>
            <a:pPr indent="-342900" lvl="0" marL="457200" rtl="0" algn="l">
              <a:spcBef>
                <a:spcPts val="0"/>
              </a:spcBef>
              <a:spcAft>
                <a:spcPts val="0"/>
              </a:spcAft>
              <a:buSzPts val="1800"/>
              <a:buChar char="●"/>
            </a:pPr>
            <a:r>
              <a:rPr b="1" lang="ru"/>
              <a:t>Оптимизация</a:t>
            </a:r>
            <a:r>
              <a:rPr lang="ru"/>
              <a:t> - предотвращение недообучения (улучшение поиска минимума функции ошибки).</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ru"/>
              <a:t>Регуляризация регрессий</a:t>
            </a:r>
            <a:endParaRPr/>
          </a:p>
        </p:txBody>
      </p:sp>
      <p:sp>
        <p:nvSpPr>
          <p:cNvPr id="310" name="Google Shape;310;p6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a:t>Мы должны добавить к функции потерь параметр </a:t>
            </a:r>
            <a:r>
              <a:rPr b="1" lang="ru"/>
              <a:t>регуляризации</a:t>
            </a:r>
            <a:r>
              <a:rPr lang="ru"/>
              <a:t>, который будет штрафовать модель за величину коэффициентов.</a:t>
            </a:r>
            <a:endParaRPr/>
          </a:p>
          <a:p>
            <a:pPr indent="0" lvl="0" marL="0" rtl="0" algn="l">
              <a:spcBef>
                <a:spcPts val="1200"/>
              </a:spcBef>
              <a:spcAft>
                <a:spcPts val="0"/>
              </a:spcAft>
              <a:buNone/>
            </a:pPr>
            <a:r>
              <a:rPr lang="ru"/>
              <a:t>Чем больше параметр регуляризации, тем больше модель штрафуется за величину коэффициентов и их количество.</a:t>
            </a:r>
            <a:endParaRPr/>
          </a:p>
          <a:p>
            <a:pPr indent="0" lvl="0" marL="0" rtl="0" algn="l">
              <a:spcBef>
                <a:spcPts val="1200"/>
              </a:spcBef>
              <a:spcAft>
                <a:spcPts val="1200"/>
              </a:spcAft>
              <a:buNone/>
            </a:pPr>
            <a:r>
              <a:rPr lang="ru"/>
              <a:t>В хорошей модели у релевантных признаков, хорошо объясняющих зависимую переменную, должны быть коэффициенты больше, чем у незначимых признаков.</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Ridge &amp; LASSO</a:t>
            </a:r>
            <a:endParaRPr/>
          </a:p>
        </p:txBody>
      </p:sp>
      <p:sp>
        <p:nvSpPr>
          <p:cNvPr id="316" name="Google Shape;316;p6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ru"/>
              <a:t>Это виды регрессии, которые по-разному регуляризуют функции потерь:</a:t>
            </a:r>
            <a:endParaRPr/>
          </a:p>
          <a:p>
            <a:pPr indent="0" lvl="0" marL="0" rtl="0" algn="l">
              <a:lnSpc>
                <a:spcPct val="95000"/>
              </a:lnSpc>
              <a:spcBef>
                <a:spcPts val="1200"/>
              </a:spcBef>
              <a:spcAft>
                <a:spcPts val="0"/>
              </a:spcAft>
              <a:buNone/>
            </a:pPr>
            <a:r>
              <a:t/>
            </a:r>
            <a:endParaRPr/>
          </a:p>
          <a:p>
            <a:pPr indent="0" lvl="0" marL="0" rtl="0" algn="l">
              <a:lnSpc>
                <a:spcPct val="95000"/>
              </a:lnSpc>
              <a:spcBef>
                <a:spcPts val="1200"/>
              </a:spcBef>
              <a:spcAft>
                <a:spcPts val="0"/>
              </a:spcAft>
              <a:buNone/>
            </a:pPr>
            <a:r>
              <a:t/>
            </a:r>
            <a:endParaRPr/>
          </a:p>
          <a:p>
            <a:pPr indent="0" lvl="0" marL="0" rtl="0" algn="l">
              <a:lnSpc>
                <a:spcPct val="95000"/>
              </a:lnSpc>
              <a:spcBef>
                <a:spcPts val="1200"/>
              </a:spcBef>
              <a:spcAft>
                <a:spcPts val="0"/>
              </a:spcAft>
              <a:buNone/>
            </a:pPr>
            <a:r>
              <a:t/>
            </a:r>
            <a:endParaRPr/>
          </a:p>
          <a:p>
            <a:pPr indent="0" lvl="0" marL="0" rtl="0" algn="l">
              <a:lnSpc>
                <a:spcPct val="95000"/>
              </a:lnSpc>
              <a:spcBef>
                <a:spcPts val="1200"/>
              </a:spcBef>
              <a:spcAft>
                <a:spcPts val="0"/>
              </a:spcAft>
              <a:buNone/>
            </a:pPr>
            <a:r>
              <a:t/>
            </a:r>
            <a:endParaRPr>
              <a:solidFill>
                <a:schemeClr val="dk1"/>
              </a:solidFill>
            </a:endParaRPr>
          </a:p>
          <a:p>
            <a:pPr indent="0" lvl="0" marL="0" rtl="0" algn="l">
              <a:lnSpc>
                <a:spcPct val="95000"/>
              </a:lnSpc>
              <a:spcBef>
                <a:spcPts val="1200"/>
              </a:spcBef>
              <a:spcAft>
                <a:spcPts val="0"/>
              </a:spcAft>
              <a:buNone/>
            </a:pPr>
            <a:r>
              <a:rPr lang="ru">
                <a:solidFill>
                  <a:schemeClr val="dk1"/>
                </a:solidFill>
              </a:rPr>
              <a:t>Loss</a:t>
            </a:r>
            <a:r>
              <a:rPr lang="ru">
                <a:solidFill>
                  <a:schemeClr val="dk1"/>
                </a:solidFill>
              </a:rPr>
              <a:t> - функция потерь, β - веса, N - количество примеров в датасете, n - индекс конкретного примера, P - количество признаков (предикторов), j - индекс конкретного веса, λ - настраиваемый параметр/коэффициент регуляризации, т.е. число, которое мы можем выбрать.</a:t>
            </a:r>
            <a:endParaRPr>
              <a:solidFill>
                <a:schemeClr val="dk1"/>
              </a:solidFill>
            </a:endParaRPr>
          </a:p>
          <a:p>
            <a:pPr indent="0" lvl="0" marL="0" rtl="0" algn="l">
              <a:lnSpc>
                <a:spcPct val="95000"/>
              </a:lnSpc>
              <a:spcBef>
                <a:spcPts val="1200"/>
              </a:spcBef>
              <a:spcAft>
                <a:spcPts val="1200"/>
              </a:spcAft>
              <a:buClr>
                <a:schemeClr val="dk1"/>
              </a:buClr>
              <a:buSzPts val="1100"/>
              <a:buFont typeface="Arial"/>
              <a:buNone/>
            </a:pPr>
            <a:r>
              <a:t/>
            </a:r>
            <a:endParaRPr>
              <a:solidFill>
                <a:schemeClr val="dk1"/>
              </a:solidFill>
            </a:endParaRPr>
          </a:p>
        </p:txBody>
      </p:sp>
      <p:pic>
        <p:nvPicPr>
          <p:cNvPr id="317" name="Google Shape;317;p61" title="{&quot;red&quot;:0,&quot;green&quot;:0,&quot;blue&quot;:0,&quot;origURL&quot;:&quot;https://www.codecogs.com/eqnedit.php?latex=%20Loss_%7BRidge%7D(%5Cbeta)%20%3D%20%5Cfrac%7B1%7D%7BN%7D%5Csum_%7Bn%3D1%7D%5E%7BN%7D(y_%7Btrue%5C_n%7D%20-%20y_%7Bpred%5C_n%7D)%5E2%20%2B%20%5Clambda%20%5Csum_%7Bj%3D1%7D%5E%7BP%7D%5Cbeta_j%5E2#0&quot;,&quot;size&quot;:18,&quot;width&quot;:610.5354330708661,&quot;height&quot;:45.09448818897638}"/>
          <p:cNvPicPr preferRelativeResize="0"/>
          <p:nvPr/>
        </p:nvPicPr>
        <p:blipFill>
          <a:blip r:embed="rId3">
            <a:alphaModFix/>
          </a:blip>
          <a:stretch>
            <a:fillRect/>
          </a:stretch>
        </p:blipFill>
        <p:spPr>
          <a:xfrm>
            <a:off x="462150" y="1726675"/>
            <a:ext cx="4816797" cy="678800"/>
          </a:xfrm>
          <a:prstGeom prst="rect">
            <a:avLst/>
          </a:prstGeom>
          <a:noFill/>
          <a:ln>
            <a:noFill/>
          </a:ln>
        </p:spPr>
      </p:pic>
      <p:pic>
        <p:nvPicPr>
          <p:cNvPr id="318" name="Google Shape;318;p61" title="{&quot;red&quot;:0,&quot;green&quot;:0,&quot;blue&quot;:0,&quot;origURL&quot;:&quot;https://www.codecogs.com/eqnedit.php?latex=%20Loss_%7BLasso%7D(%5Cbeta)%20%3D%20%5Cfrac%7B1%7D%7BN%7D%5Csum_%7Bn%3D1%7D%5E%7BN%7D(y_%7Btrue%5C_n%7D%20-%20y_%7Bpred%5C_n%7D)%5E2%20%2B%20%5Clambda%5Csum_%7Bj%3D1%7D%5E%7BP%7D%7C%5Cbeta_j%7C#0&quot;,&quot;size&quot;:18,&quot;width&quot;:590.8346456692914,&quot;height&quot;:45.09448818897638}"/>
          <p:cNvPicPr preferRelativeResize="0"/>
          <p:nvPr/>
        </p:nvPicPr>
        <p:blipFill>
          <a:blip r:embed="rId4">
            <a:alphaModFix/>
          </a:blip>
          <a:stretch>
            <a:fillRect/>
          </a:stretch>
        </p:blipFill>
        <p:spPr>
          <a:xfrm>
            <a:off x="448100" y="2574325"/>
            <a:ext cx="4916946" cy="6788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Разница между Ridge и Lasso</a:t>
            </a:r>
            <a:endParaRPr/>
          </a:p>
        </p:txBody>
      </p:sp>
      <p:sp>
        <p:nvSpPr>
          <p:cNvPr id="324" name="Google Shape;324;p6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1400"/>
              </a:spcBef>
              <a:spcAft>
                <a:spcPts val="0"/>
              </a:spcAft>
              <a:buClr>
                <a:schemeClr val="dk1"/>
              </a:buClr>
              <a:buSzPts val="1800"/>
              <a:buChar char="●"/>
            </a:pPr>
            <a:r>
              <a:rPr lang="ru">
                <a:solidFill>
                  <a:schemeClr val="dk1"/>
                </a:solidFill>
              </a:rPr>
              <a:t>Lasso</a:t>
            </a:r>
            <a:r>
              <a:rPr lang="ru">
                <a:solidFill>
                  <a:schemeClr val="dk1"/>
                </a:solidFill>
              </a:rPr>
              <a:t> имеет более выраженную тенденцию к занулению коэффициентов (=избавлению от признаков). Она может быть полезна, если вы:</a:t>
            </a:r>
            <a:endParaRPr>
              <a:solidFill>
                <a:schemeClr val="dk1"/>
              </a:solidFill>
            </a:endParaRPr>
          </a:p>
          <a:p>
            <a:pPr indent="-317500" lvl="1" marL="914400" rtl="0" algn="l">
              <a:spcBef>
                <a:spcPts val="1000"/>
              </a:spcBef>
              <a:spcAft>
                <a:spcPts val="0"/>
              </a:spcAft>
              <a:buClr>
                <a:schemeClr val="dk1"/>
              </a:buClr>
              <a:buSzPts val="1400"/>
              <a:buChar char="○"/>
            </a:pPr>
            <a:r>
              <a:rPr lang="ru">
                <a:solidFill>
                  <a:schemeClr val="dk1"/>
                </a:solidFill>
              </a:rPr>
              <a:t>Заведомо знаете, что не все признаки будут вам полезны;</a:t>
            </a:r>
            <a:endParaRPr>
              <a:solidFill>
                <a:schemeClr val="dk1"/>
              </a:solidFill>
            </a:endParaRPr>
          </a:p>
          <a:p>
            <a:pPr indent="-317500" lvl="1" marL="914400" rtl="0" algn="l">
              <a:spcBef>
                <a:spcPts val="1000"/>
              </a:spcBef>
              <a:spcAft>
                <a:spcPts val="0"/>
              </a:spcAft>
              <a:buClr>
                <a:schemeClr val="dk1"/>
              </a:buClr>
              <a:buSzPts val="1400"/>
              <a:buChar char="○"/>
            </a:pPr>
            <a:r>
              <a:rPr lang="ru">
                <a:solidFill>
                  <a:schemeClr val="dk1"/>
                </a:solidFill>
              </a:rPr>
              <a:t>Имеете ограничения по скорости построения предсказаний, и вам выгодно избавляться от “лишних” признаков;</a:t>
            </a:r>
            <a:endParaRPr>
              <a:solidFill>
                <a:schemeClr val="dk1"/>
              </a:solidFill>
            </a:endParaRPr>
          </a:p>
          <a:p>
            <a:pPr indent="-317500" lvl="1" marL="914400" rtl="0" algn="l">
              <a:spcBef>
                <a:spcPts val="1000"/>
              </a:spcBef>
              <a:spcAft>
                <a:spcPts val="0"/>
              </a:spcAft>
              <a:buClr>
                <a:schemeClr val="dk1"/>
              </a:buClr>
              <a:buSzPts val="1400"/>
              <a:buChar char="○"/>
            </a:pPr>
            <a:r>
              <a:rPr lang="ru">
                <a:solidFill>
                  <a:schemeClr val="dk1"/>
                </a:solidFill>
              </a:rPr>
              <a:t>Имеете выборку, где объектов меньше, чем признаков.</a:t>
            </a:r>
            <a:endParaRPr>
              <a:solidFill>
                <a:schemeClr val="dk1"/>
              </a:solidFill>
            </a:endParaRPr>
          </a:p>
          <a:p>
            <a:pPr indent="-342900" lvl="0" marL="457200" rtl="0" algn="l">
              <a:spcBef>
                <a:spcPts val="1400"/>
              </a:spcBef>
              <a:spcAft>
                <a:spcPts val="1000"/>
              </a:spcAft>
              <a:buClr>
                <a:schemeClr val="dk1"/>
              </a:buClr>
              <a:buSzPts val="1800"/>
              <a:buChar char="●"/>
            </a:pPr>
            <a:r>
              <a:rPr lang="ru">
                <a:solidFill>
                  <a:schemeClr val="dk1"/>
                </a:solidFill>
              </a:rPr>
              <a:t>Гребневая регрессия не зануляет коэффициенты, а скорее старается уменьшить слишком большие. Этот метод подходит, если вы уверены, что все ваши независимые переменные будут иметь эффект на зависимую, пусть небольшой.</a:t>
            </a:r>
            <a:endParaRPr sz="1100">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6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ru"/>
              <a:t>Оценка качества</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Оценка качества: ошибки модели</a:t>
            </a:r>
            <a:endParaRPr/>
          </a:p>
        </p:txBody>
      </p:sp>
      <p:sp>
        <p:nvSpPr>
          <p:cNvPr id="335" name="Google Shape;335;p6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t>Residuals = y_true - y_pred</a:t>
            </a:r>
            <a:endParaRPr/>
          </a:p>
          <a:p>
            <a:pPr indent="0" lvl="0" marL="0" rtl="0" algn="l">
              <a:spcBef>
                <a:spcPts val="1200"/>
              </a:spcBef>
              <a:spcAft>
                <a:spcPts val="0"/>
              </a:spcAft>
              <a:buNone/>
            </a:pPr>
            <a:r>
              <a:rPr lang="ru"/>
              <a:t>Средн</a:t>
            </a:r>
            <a:r>
              <a:rPr lang="ru"/>
              <a:t>еквадратична</a:t>
            </a:r>
            <a:r>
              <a:rPr lang="ru"/>
              <a:t>я ошибка:</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pic>
        <p:nvPicPr>
          <p:cNvPr id="336" name="Google Shape;336;p64" title="[0,0,0,&quot;https://www.codecogs.com/eqnedit.php?latex=%20MSE%20%3D%20%5Cfrac%7B1%7D%7Bn%7D%20%5Csum_%7Bi%3D1%7D%5E%7Bn%7D%20(true_i%20-%20pred_i)%5E2%20#0&quot;]"/>
          <p:cNvPicPr preferRelativeResize="0"/>
          <p:nvPr/>
        </p:nvPicPr>
        <p:blipFill>
          <a:blip r:embed="rId3">
            <a:alphaModFix/>
          </a:blip>
          <a:stretch>
            <a:fillRect/>
          </a:stretch>
        </p:blipFill>
        <p:spPr>
          <a:xfrm>
            <a:off x="443050" y="2188225"/>
            <a:ext cx="3239374" cy="686525"/>
          </a:xfrm>
          <a:prstGeom prst="rect">
            <a:avLst/>
          </a:prstGeom>
          <a:noFill/>
          <a:ln>
            <a:noFill/>
          </a:ln>
        </p:spPr>
      </p:pic>
      <p:pic>
        <p:nvPicPr>
          <p:cNvPr id="337" name="Google Shape;337;p64" title="[0,0,0,&quot;https://www.codecogs.com/eqnedit.php?latex=%20Residual%20Squared%20Error%20%3D%20%5Csqrt%7BMSE%7D%20#0&quot;]"/>
          <p:cNvPicPr preferRelativeResize="0"/>
          <p:nvPr/>
        </p:nvPicPr>
        <p:blipFill>
          <a:blip r:embed="rId4">
            <a:alphaModFix/>
          </a:blip>
          <a:stretch>
            <a:fillRect/>
          </a:stretch>
        </p:blipFill>
        <p:spPr>
          <a:xfrm>
            <a:off x="443050" y="3115550"/>
            <a:ext cx="4008523" cy="306675"/>
          </a:xfrm>
          <a:prstGeom prst="rect">
            <a:avLst/>
          </a:prstGeom>
          <a:noFill/>
          <a:ln>
            <a:noFill/>
          </a:ln>
        </p:spPr>
      </p:pic>
      <p:pic>
        <p:nvPicPr>
          <p:cNvPr id="338" name="Google Shape;338;p64"/>
          <p:cNvPicPr preferRelativeResize="0"/>
          <p:nvPr/>
        </p:nvPicPr>
        <p:blipFill>
          <a:blip r:embed="rId5">
            <a:alphaModFix/>
          </a:blip>
          <a:stretch>
            <a:fillRect/>
          </a:stretch>
        </p:blipFill>
        <p:spPr>
          <a:xfrm>
            <a:off x="5064700" y="1289446"/>
            <a:ext cx="3687650" cy="2211375"/>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Оценка качества</a:t>
            </a:r>
            <a:endParaRPr/>
          </a:p>
        </p:txBody>
      </p:sp>
      <p:sp>
        <p:nvSpPr>
          <p:cNvPr id="344" name="Google Shape;344;p6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700"/>
              <a:t>R</a:t>
            </a:r>
            <a:r>
              <a:rPr baseline="30000" lang="ru" sz="1700"/>
              <a:t>2</a:t>
            </a:r>
            <a:r>
              <a:rPr lang="ru" sz="1700"/>
              <a:t>, или коэффициент детерминации - </a:t>
            </a:r>
            <a:r>
              <a:rPr lang="ru" sz="1700"/>
              <a:t>насколько условная дисперсия модели отличается от дисперсии реальных значений.</a:t>
            </a:r>
            <a:endParaRPr sz="1700"/>
          </a:p>
          <a:p>
            <a:pPr indent="0" lvl="0" marL="0" rtl="0" algn="l">
              <a:spcBef>
                <a:spcPts val="0"/>
              </a:spcBef>
              <a:spcAft>
                <a:spcPts val="0"/>
              </a:spcAft>
              <a:buNone/>
            </a:pPr>
            <a:r>
              <a:t/>
            </a:r>
            <a:endParaRPr sz="1700"/>
          </a:p>
          <a:p>
            <a:pPr indent="0" lvl="0" marL="0" rtl="0" algn="l">
              <a:spcBef>
                <a:spcPts val="1200"/>
              </a:spcBef>
              <a:spcAft>
                <a:spcPts val="0"/>
              </a:spcAft>
              <a:buNone/>
            </a:pPr>
            <a:r>
              <a:t/>
            </a:r>
            <a:endParaRPr sz="1700"/>
          </a:p>
          <a:p>
            <a:pPr indent="0" lvl="0" marL="0" rtl="0" algn="l">
              <a:spcBef>
                <a:spcPts val="1200"/>
              </a:spcBef>
              <a:spcAft>
                <a:spcPts val="0"/>
              </a:spcAft>
              <a:buNone/>
            </a:pPr>
            <a:r>
              <a:rPr lang="ru" sz="1700"/>
              <a:t>pred = y_pred, true = y_true, avg - среднее (average).</a:t>
            </a:r>
            <a:endParaRPr sz="1700"/>
          </a:p>
          <a:p>
            <a:pPr indent="0" lvl="0" marL="0" rtl="0" algn="l">
              <a:spcBef>
                <a:spcPts val="1200"/>
              </a:spcBef>
              <a:spcAft>
                <a:spcPts val="0"/>
              </a:spcAft>
              <a:buNone/>
            </a:pPr>
            <a:r>
              <a:t/>
            </a:r>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t/>
            </a:r>
            <a:endParaRPr/>
          </a:p>
        </p:txBody>
      </p:sp>
      <p:pic>
        <p:nvPicPr>
          <p:cNvPr id="345" name="Google Shape;345;p65" title="[0,0,0,&quot;https://www.codecogs.com/eqnedit.php?latex=%20R%5E2%20%3D%201%20-%20%5Cfrac%7B%5Csum%20(true_i%20-%20pred_i)%5E2%7D%7B%5Csum%20(true_i%20-%20avg(true))%5E2%7D%20#0&quot;]"/>
          <p:cNvPicPr preferRelativeResize="0"/>
          <p:nvPr/>
        </p:nvPicPr>
        <p:blipFill>
          <a:blip r:embed="rId3">
            <a:alphaModFix/>
          </a:blip>
          <a:stretch>
            <a:fillRect/>
          </a:stretch>
        </p:blipFill>
        <p:spPr>
          <a:xfrm>
            <a:off x="362125" y="2548025"/>
            <a:ext cx="3589257" cy="625275"/>
          </a:xfrm>
          <a:prstGeom prst="rect">
            <a:avLst/>
          </a:prstGeom>
          <a:noFill/>
          <a:ln>
            <a:noFill/>
          </a:ln>
        </p:spPr>
      </p:pic>
      <p:pic>
        <p:nvPicPr>
          <p:cNvPr id="346" name="Google Shape;346;p65"/>
          <p:cNvPicPr preferRelativeResize="0"/>
          <p:nvPr/>
        </p:nvPicPr>
        <p:blipFill>
          <a:blip r:embed="rId4">
            <a:alphaModFix/>
          </a:blip>
          <a:stretch>
            <a:fillRect/>
          </a:stretch>
        </p:blipFill>
        <p:spPr>
          <a:xfrm>
            <a:off x="4891375" y="1329175"/>
            <a:ext cx="3796400" cy="22765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p6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R</a:t>
            </a:r>
            <a:r>
              <a:rPr baseline="30000" lang="ru"/>
              <a:t>2</a:t>
            </a:r>
            <a:endParaRPr baseline="30000"/>
          </a:p>
        </p:txBody>
      </p:sp>
      <p:graphicFrame>
        <p:nvGraphicFramePr>
          <p:cNvPr id="352" name="Google Shape;352;p66"/>
          <p:cNvGraphicFramePr/>
          <p:nvPr/>
        </p:nvGraphicFramePr>
        <p:xfrm>
          <a:off x="527325" y="1532100"/>
          <a:ext cx="3000000" cy="3000000"/>
        </p:xfrm>
        <a:graphic>
          <a:graphicData uri="http://schemas.openxmlformats.org/drawingml/2006/table">
            <a:tbl>
              <a:tblPr>
                <a:noFill/>
                <a:tableStyleId>{D70AA995-9720-4803-976F-6CC03A1B5411}</a:tableStyleId>
              </a:tblPr>
              <a:tblGrid>
                <a:gridCol w="1234525"/>
                <a:gridCol w="2425650"/>
              </a:tblGrid>
              <a:tr h="381000">
                <a:tc>
                  <a:txBody>
                    <a:bodyPr/>
                    <a:lstStyle/>
                    <a:p>
                      <a:pPr indent="0" lvl="0" marL="0" rtl="0" algn="l">
                        <a:lnSpc>
                          <a:spcPct val="115000"/>
                        </a:lnSpc>
                        <a:spcBef>
                          <a:spcPts val="0"/>
                        </a:spcBef>
                        <a:spcAft>
                          <a:spcPts val="1200"/>
                        </a:spcAft>
                        <a:buClr>
                          <a:schemeClr val="dk1"/>
                        </a:buClr>
                        <a:buSzPts val="1100"/>
                        <a:buFont typeface="Arial"/>
                        <a:buNone/>
                      </a:pPr>
                      <a:r>
                        <a:rPr lang="ru" sz="1800">
                          <a:solidFill>
                            <a:schemeClr val="dk1"/>
                          </a:solidFill>
                        </a:rPr>
                        <a:t>R</a:t>
                      </a:r>
                      <a:r>
                        <a:rPr baseline="30000" lang="ru" sz="1800">
                          <a:solidFill>
                            <a:schemeClr val="dk1"/>
                          </a:solidFill>
                        </a:rPr>
                        <a:t>2</a:t>
                      </a:r>
                      <a:r>
                        <a:rPr lang="ru" sz="1800">
                          <a:solidFill>
                            <a:schemeClr val="dk1"/>
                          </a:solidFill>
                        </a:rPr>
                        <a:t> &lt;= 0</a:t>
                      </a:r>
                      <a:endParaRPr/>
                    </a:p>
                  </a:txBody>
                  <a:tcPr marT="91425" marB="91425" marR="91425" marL="91425"/>
                </a:tc>
                <a:tc>
                  <a:txBody>
                    <a:bodyPr/>
                    <a:lstStyle/>
                    <a:p>
                      <a:pPr indent="0" lvl="0" marL="0" rtl="0" algn="l">
                        <a:spcBef>
                          <a:spcPts val="0"/>
                        </a:spcBef>
                        <a:spcAft>
                          <a:spcPts val="0"/>
                        </a:spcAft>
                        <a:buNone/>
                      </a:pPr>
                      <a:r>
                        <a:rPr lang="ru"/>
                        <a:t>Модель предсказывает значения так же или хуже, чем прямая линия</a:t>
                      </a:r>
                      <a:endParaRPr/>
                    </a:p>
                  </a:txBody>
                  <a:tcPr marT="91425" marB="91425" marR="91425" marL="91425"/>
                </a:tc>
              </a:tr>
              <a:tr h="381000">
                <a:tc>
                  <a:txBody>
                    <a:bodyPr/>
                    <a:lstStyle/>
                    <a:p>
                      <a:pPr indent="0" lvl="0" marL="0" rtl="0" algn="l">
                        <a:lnSpc>
                          <a:spcPct val="115000"/>
                        </a:lnSpc>
                        <a:spcBef>
                          <a:spcPts val="0"/>
                        </a:spcBef>
                        <a:spcAft>
                          <a:spcPts val="1200"/>
                        </a:spcAft>
                        <a:buClr>
                          <a:schemeClr val="dk1"/>
                        </a:buClr>
                        <a:buSzPts val="1100"/>
                        <a:buFont typeface="Arial"/>
                        <a:buNone/>
                      </a:pPr>
                      <a:r>
                        <a:rPr lang="ru" sz="1800">
                          <a:solidFill>
                            <a:schemeClr val="dk1"/>
                          </a:solidFill>
                        </a:rPr>
                        <a:t>R</a:t>
                      </a:r>
                      <a:r>
                        <a:rPr baseline="30000" lang="ru" sz="1800">
                          <a:solidFill>
                            <a:schemeClr val="dk1"/>
                          </a:solidFill>
                        </a:rPr>
                        <a:t>2</a:t>
                      </a:r>
                      <a:r>
                        <a:rPr lang="ru" sz="1800">
                          <a:solidFill>
                            <a:schemeClr val="dk1"/>
                          </a:solidFill>
                        </a:rPr>
                        <a:t> &gt; 0</a:t>
                      </a:r>
                      <a:endParaRPr/>
                    </a:p>
                  </a:txBody>
                  <a:tcPr marT="91425" marB="91425" marR="91425" marL="91425"/>
                </a:tc>
                <a:tc>
                  <a:txBody>
                    <a:bodyPr/>
                    <a:lstStyle/>
                    <a:p>
                      <a:pPr indent="0" lvl="0" marL="0" rtl="0" algn="l">
                        <a:spcBef>
                          <a:spcPts val="0"/>
                        </a:spcBef>
                        <a:spcAft>
                          <a:spcPts val="0"/>
                        </a:spcAft>
                        <a:buNone/>
                      </a:pPr>
                      <a:r>
                        <a:rPr lang="ru"/>
                        <a:t>Модель имеет какую-то предсказательную способность</a:t>
                      </a:r>
                      <a:endParaRPr/>
                    </a:p>
                  </a:txBody>
                  <a:tcPr marT="91425" marB="91425" marR="91425" marL="91425"/>
                </a:tc>
              </a:tr>
              <a:tr h="381000">
                <a:tc>
                  <a:txBody>
                    <a:bodyPr/>
                    <a:lstStyle/>
                    <a:p>
                      <a:pPr indent="0" lvl="0" marL="0" rtl="0" algn="l">
                        <a:lnSpc>
                          <a:spcPct val="115000"/>
                        </a:lnSpc>
                        <a:spcBef>
                          <a:spcPts val="0"/>
                        </a:spcBef>
                        <a:spcAft>
                          <a:spcPts val="1200"/>
                        </a:spcAft>
                        <a:buClr>
                          <a:schemeClr val="dk1"/>
                        </a:buClr>
                        <a:buSzPts val="1100"/>
                        <a:buFont typeface="Arial"/>
                        <a:buNone/>
                      </a:pPr>
                      <a:r>
                        <a:rPr lang="ru" sz="1800">
                          <a:solidFill>
                            <a:schemeClr val="dk1"/>
                          </a:solidFill>
                        </a:rPr>
                        <a:t>R</a:t>
                      </a:r>
                      <a:r>
                        <a:rPr baseline="30000" lang="ru" sz="1800">
                          <a:solidFill>
                            <a:schemeClr val="dk1"/>
                          </a:solidFill>
                        </a:rPr>
                        <a:t>2</a:t>
                      </a:r>
                      <a:r>
                        <a:rPr lang="ru" sz="1800">
                          <a:solidFill>
                            <a:schemeClr val="dk1"/>
                          </a:solidFill>
                        </a:rPr>
                        <a:t> = 1</a:t>
                      </a:r>
                      <a:endParaRPr/>
                    </a:p>
                  </a:txBody>
                  <a:tcPr marT="91425" marB="91425" marR="91425" marL="91425"/>
                </a:tc>
                <a:tc>
                  <a:txBody>
                    <a:bodyPr/>
                    <a:lstStyle/>
                    <a:p>
                      <a:pPr indent="0" lvl="0" marL="0" rtl="0" algn="l">
                        <a:spcBef>
                          <a:spcPts val="0"/>
                        </a:spcBef>
                        <a:spcAft>
                          <a:spcPts val="0"/>
                        </a:spcAft>
                        <a:buNone/>
                      </a:pPr>
                      <a:r>
                        <a:rPr lang="ru"/>
                        <a:t>Модель идеально предсказывает всю выборку</a:t>
                      </a:r>
                      <a:endParaRPr/>
                    </a:p>
                  </a:txBody>
                  <a:tcPr marT="91425" marB="91425" marR="91425" marL="91425"/>
                </a:tc>
              </a:tr>
            </a:tbl>
          </a:graphicData>
        </a:graphic>
      </p:graphicFrame>
      <p:pic>
        <p:nvPicPr>
          <p:cNvPr id="353" name="Google Shape;353;p66"/>
          <p:cNvPicPr preferRelativeResize="0"/>
          <p:nvPr/>
        </p:nvPicPr>
        <p:blipFill>
          <a:blip r:embed="rId3">
            <a:alphaModFix/>
          </a:blip>
          <a:stretch>
            <a:fillRect/>
          </a:stretch>
        </p:blipFill>
        <p:spPr>
          <a:xfrm>
            <a:off x="4816450" y="1532100"/>
            <a:ext cx="4045494" cy="246877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6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Оценка качества</a:t>
            </a:r>
            <a:endParaRPr/>
          </a:p>
        </p:txBody>
      </p:sp>
      <p:sp>
        <p:nvSpPr>
          <p:cNvPr id="359" name="Google Shape;359;p6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a:solidFill>
                  <a:schemeClr val="dk1"/>
                </a:solidFill>
              </a:rPr>
              <a:t>Недостаток R</a:t>
            </a:r>
            <a:r>
              <a:rPr baseline="30000" lang="ru">
                <a:solidFill>
                  <a:schemeClr val="dk1"/>
                </a:solidFill>
              </a:rPr>
              <a:t>2</a:t>
            </a:r>
            <a:r>
              <a:rPr lang="ru">
                <a:solidFill>
                  <a:schemeClr val="dk1"/>
                </a:solidFill>
              </a:rPr>
              <a:t>: возрастает с увеличением числа предикторов (признаков).</a:t>
            </a:r>
            <a:endParaRPr>
              <a:solidFill>
                <a:schemeClr val="dk1"/>
              </a:solidFill>
            </a:endParaRPr>
          </a:p>
          <a:p>
            <a:pPr indent="0" lvl="0" marL="0" rtl="0" algn="l">
              <a:spcBef>
                <a:spcPts val="1200"/>
              </a:spcBef>
              <a:spcAft>
                <a:spcPts val="0"/>
              </a:spcAft>
              <a:buNone/>
            </a:pPr>
            <a:r>
              <a:rPr lang="ru">
                <a:solidFill>
                  <a:schemeClr val="dk1"/>
                </a:solidFill>
              </a:rPr>
              <a:t>Решение:</a:t>
            </a:r>
            <a:r>
              <a:rPr lang="ru"/>
              <a:t> Adjusted </a:t>
            </a:r>
            <a:r>
              <a:rPr lang="ru">
                <a:solidFill>
                  <a:schemeClr val="dk1"/>
                </a:solidFill>
              </a:rPr>
              <a:t>R</a:t>
            </a:r>
            <a:r>
              <a:rPr baseline="30000" lang="ru">
                <a:solidFill>
                  <a:schemeClr val="dk1"/>
                </a:solidFill>
              </a:rPr>
              <a:t>2</a:t>
            </a:r>
            <a:r>
              <a:rPr lang="ru">
                <a:solidFill>
                  <a:schemeClr val="dk1"/>
                </a:solidFill>
              </a:rPr>
              <a:t>:</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0"/>
              </a:spcAft>
              <a:buNone/>
            </a:pPr>
            <a:r>
              <a:rPr lang="ru">
                <a:solidFill>
                  <a:schemeClr val="dk1"/>
                </a:solidFill>
              </a:rPr>
              <a:t>n - количество предикторов, k - количество наблюдений.</a:t>
            </a:r>
            <a:endParaRPr>
              <a:solidFill>
                <a:schemeClr val="dk1"/>
              </a:solidFill>
            </a:endParaRPr>
          </a:p>
          <a:p>
            <a:pPr indent="0" lvl="0" marL="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t/>
            </a:r>
            <a:endParaRPr/>
          </a:p>
        </p:txBody>
      </p:sp>
      <p:pic>
        <p:nvPicPr>
          <p:cNvPr id="360" name="Google Shape;360;p67" title="[0,0,0,&quot;https://www.codecogs.com/eqnedit.php?latex=%20Adj%20R%5E2%20%3D%201%20-%20(1%20-%20R%5E2)%20%5Cfrac%7Bk%20-%201%7D%7Bk%20-%20n%20-%201%7D%20#0&quot;]"/>
          <p:cNvPicPr preferRelativeResize="0"/>
          <p:nvPr/>
        </p:nvPicPr>
        <p:blipFill>
          <a:blip r:embed="rId3">
            <a:alphaModFix/>
          </a:blip>
          <a:stretch>
            <a:fillRect/>
          </a:stretch>
        </p:blipFill>
        <p:spPr>
          <a:xfrm>
            <a:off x="421150" y="2174175"/>
            <a:ext cx="3526898" cy="5392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6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Оценка качества: ошибки модели</a:t>
            </a:r>
            <a:endParaRPr/>
          </a:p>
        </p:txBody>
      </p:sp>
      <p:sp>
        <p:nvSpPr>
          <p:cNvPr id="366" name="Google Shape;366;p68"/>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ru" sz="1800"/>
              <a:t>Есть и другие способы оценивать ошибки, например, средняя абсолютная ошибка: </a:t>
            </a:r>
            <a:endParaRPr sz="1800"/>
          </a:p>
          <a:p>
            <a:pPr indent="0" lvl="0" marL="0" rtl="0" algn="l">
              <a:spcBef>
                <a:spcPts val="1200"/>
              </a:spcBef>
              <a:spcAft>
                <a:spcPts val="0"/>
              </a:spcAft>
              <a:buNone/>
            </a:pPr>
            <a:r>
              <a:t/>
            </a:r>
            <a:endParaRPr sz="1800"/>
          </a:p>
          <a:p>
            <a:pPr indent="0" lvl="0" marL="0" rtl="0" algn="l">
              <a:spcBef>
                <a:spcPts val="1200"/>
              </a:spcBef>
              <a:spcAft>
                <a:spcPts val="0"/>
              </a:spcAft>
              <a:buNone/>
            </a:pPr>
            <a:r>
              <a:t/>
            </a:r>
            <a:endParaRPr sz="1800"/>
          </a:p>
          <a:p>
            <a:pPr indent="0" lvl="0" marL="0" rtl="0" algn="l">
              <a:spcBef>
                <a:spcPts val="1200"/>
              </a:spcBef>
              <a:spcAft>
                <a:spcPts val="0"/>
              </a:spcAft>
              <a:buNone/>
            </a:pPr>
            <a:r>
              <a:rPr lang="ru" sz="1800"/>
              <a:t>MAE более устойчива к выбросам.</a:t>
            </a:r>
            <a:endParaRPr sz="1800"/>
          </a:p>
          <a:p>
            <a:pPr indent="0" lvl="0" marL="0" rtl="0" algn="l">
              <a:spcBef>
                <a:spcPts val="1200"/>
              </a:spcBef>
              <a:spcAft>
                <a:spcPts val="1200"/>
              </a:spcAft>
              <a:buNone/>
            </a:pPr>
            <a:r>
              <a:t/>
            </a:r>
            <a:endParaRPr sz="1800"/>
          </a:p>
        </p:txBody>
      </p:sp>
      <p:pic>
        <p:nvPicPr>
          <p:cNvPr id="367" name="Google Shape;367;p68" title="[0,0,0,&quot;https://www.codecogs.com/eqnedit.php?latex=%20MAE%20%3D%20%5Cfrac%7B1%7D%7Bn%7D%20%5Csum_%7Bi%3D1%7D%5E%7Bn%7D%20%7Ctrue_i%20-%20pred_i%7C%20#0&quot;]"/>
          <p:cNvPicPr preferRelativeResize="0"/>
          <p:nvPr/>
        </p:nvPicPr>
        <p:blipFill>
          <a:blip r:embed="rId3">
            <a:alphaModFix/>
          </a:blip>
          <a:stretch>
            <a:fillRect/>
          </a:stretch>
        </p:blipFill>
        <p:spPr>
          <a:xfrm>
            <a:off x="421100" y="2387625"/>
            <a:ext cx="3269348" cy="715725"/>
          </a:xfrm>
          <a:prstGeom prst="rect">
            <a:avLst/>
          </a:prstGeom>
          <a:noFill/>
          <a:ln>
            <a:noFill/>
          </a:ln>
        </p:spPr>
      </p:pic>
      <p:pic>
        <p:nvPicPr>
          <p:cNvPr id="368" name="Google Shape;368;p68"/>
          <p:cNvPicPr preferRelativeResize="0"/>
          <p:nvPr/>
        </p:nvPicPr>
        <p:blipFill>
          <a:blip r:embed="rId4">
            <a:alphaModFix/>
          </a:blip>
          <a:stretch>
            <a:fillRect/>
          </a:stretch>
        </p:blipFill>
        <p:spPr>
          <a:xfrm>
            <a:off x="4622475" y="1202900"/>
            <a:ext cx="4116149" cy="24822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6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F-статистика и p-value*</a:t>
            </a:r>
            <a:endParaRPr/>
          </a:p>
        </p:txBody>
      </p:sp>
      <p:sp>
        <p:nvSpPr>
          <p:cNvPr id="374" name="Google Shape;374;p6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ru"/>
              <a:t>Напоминание:</a:t>
            </a:r>
            <a:endParaRPr/>
          </a:p>
          <a:p>
            <a:pPr indent="-342900" lvl="0" marL="457200" rtl="0" algn="l">
              <a:spcBef>
                <a:spcPts val="1200"/>
              </a:spcBef>
              <a:spcAft>
                <a:spcPts val="0"/>
              </a:spcAft>
              <a:buSzPts val="1800"/>
              <a:buChar char="●"/>
            </a:pPr>
            <a:r>
              <a:rPr lang="ru"/>
              <a:t>F-статистика позволяет понять, является ли группа переменных статистически значимой, измеряя их совместный эффект на зависимую переменную;</a:t>
            </a:r>
            <a:endParaRPr/>
          </a:p>
          <a:p>
            <a:pPr indent="-342900" lvl="0" marL="457200" rtl="0" algn="l">
              <a:spcBef>
                <a:spcPts val="0"/>
              </a:spcBef>
              <a:spcAft>
                <a:spcPts val="0"/>
              </a:spcAft>
              <a:buSzPts val="1800"/>
              <a:buChar char="●"/>
            </a:pPr>
            <a:r>
              <a:rPr lang="ru"/>
              <a:t>p-value позволяет понять, можно ли отвергнуть нулевую гипотезу.</a:t>
            </a:r>
            <a:endParaRPr/>
          </a:p>
          <a:p>
            <a:pPr indent="0" lvl="0" marL="0" rtl="0" algn="l">
              <a:spcBef>
                <a:spcPts val="1200"/>
              </a:spcBef>
              <a:spcAft>
                <a:spcPts val="1200"/>
              </a:spcAft>
              <a:buNone/>
            </a:pPr>
            <a:r>
              <a:rPr lang="ru"/>
              <a:t>В sklearn нет простого способа посчитать эти статистики для уже готовой регрессии, но есть класс, который позволяет посчитать их отдельно: </a:t>
            </a:r>
            <a:r>
              <a:rPr lang="ru" u="sng">
                <a:solidFill>
                  <a:schemeClr val="hlink"/>
                </a:solidFill>
                <a:hlinkClick r:id="rId3"/>
              </a:rPr>
              <a:t>https://scikit-learn.org/stable/modules/generated/sklearn.feature_selection.f_regression.html</a:t>
            </a:r>
            <a:r>
              <a:rPr lang="ru"/>
              <a:t>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70"/>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ru"/>
              <a:t>Практика:</a:t>
            </a:r>
            <a:endParaRPr/>
          </a:p>
          <a:p>
            <a:pPr indent="0" lvl="0" marL="0" rtl="0" algn="ctr">
              <a:spcBef>
                <a:spcPts val="0"/>
              </a:spcBef>
              <a:spcAft>
                <a:spcPts val="0"/>
              </a:spcAft>
              <a:buNone/>
            </a:pPr>
            <a:r>
              <a:rPr lang="ru" sz="2933" u="sng">
                <a:solidFill>
                  <a:schemeClr val="hlink"/>
                </a:solidFill>
                <a:hlinkClick r:id="rId3"/>
              </a:rPr>
              <a:t>https://colab.research.google.com/drive/1JVNFnJWZfxiFTpRcHdIHRJqEwV8lPVae?usp=sharing</a:t>
            </a:r>
            <a:r>
              <a:rPr lang="ru" sz="2933"/>
              <a:t>   </a:t>
            </a:r>
            <a:endParaRPr sz="2933"/>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p71"/>
          <p:cNvSpPr txBox="1"/>
          <p:nvPr>
            <p:ph type="title"/>
          </p:nvPr>
        </p:nvSpPr>
        <p:spPr>
          <a:xfrm>
            <a:off x="311700" y="2150850"/>
            <a:ext cx="8520600" cy="8418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ru"/>
              <a:t>Квиз (дедлайн - сессия 2-го модуля):</a:t>
            </a:r>
            <a:endParaRPr/>
          </a:p>
          <a:p>
            <a:pPr indent="0" lvl="0" marL="0" rtl="0" algn="ctr">
              <a:spcBef>
                <a:spcPts val="0"/>
              </a:spcBef>
              <a:spcAft>
                <a:spcPts val="0"/>
              </a:spcAft>
              <a:buNone/>
            </a:pPr>
            <a:r>
              <a:rPr lang="ru" u="sng">
                <a:solidFill>
                  <a:schemeClr val="hlink"/>
                </a:solidFill>
                <a:hlinkClick r:id="rId3"/>
              </a:rPr>
              <a:t>https://docs.google.com/forms/d/e/1FAIpQLSeGOz21yhZPwT57bfGAtosqNGJjn_Rwm09R4nxzMzqbJY_Q3Q/viewform?usp=dialog</a:t>
            </a:r>
            <a:r>
              <a:rPr lang="ru"/>
              <a:t>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7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u"/>
              <a:t>Дополнительно</a:t>
            </a:r>
            <a:endParaRPr/>
          </a:p>
        </p:txBody>
      </p:sp>
      <p:sp>
        <p:nvSpPr>
          <p:cNvPr id="390" name="Google Shape;390;p7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ru" u="sng">
                <a:solidFill>
                  <a:schemeClr val="hlink"/>
                </a:solidFill>
                <a:hlinkClick r:id="rId3"/>
              </a:rPr>
              <a:t>https://pozdniakov.github.io/tidy_stats/340-lm.html</a:t>
            </a:r>
            <a:endParaRPr/>
          </a:p>
          <a:p>
            <a:pPr indent="-342900" lvl="0" marL="457200" rtl="0" algn="l">
              <a:spcBef>
                <a:spcPts val="0"/>
              </a:spcBef>
              <a:spcAft>
                <a:spcPts val="0"/>
              </a:spcAft>
              <a:buSzPts val="1800"/>
              <a:buChar char="●"/>
            </a:pPr>
            <a:r>
              <a:rPr lang="ru" u="sng">
                <a:solidFill>
                  <a:schemeClr val="hlink"/>
                </a:solidFill>
                <a:hlinkClick r:id="rId4"/>
              </a:rPr>
              <a:t>https://colab.research.google.com/github/fbeilstein/machine_learning/blob/master/lecture_09_linear_regression.ipynb#scrollTo=Mz3BqxXrcnlk</a:t>
            </a:r>
            <a:r>
              <a:rPr lang="ru"/>
              <a:t> </a:t>
            </a:r>
            <a:endParaRPr/>
          </a:p>
          <a:p>
            <a:pPr indent="-342900" lvl="0" marL="457200" rtl="0" algn="l">
              <a:spcBef>
                <a:spcPts val="0"/>
              </a:spcBef>
              <a:spcAft>
                <a:spcPts val="0"/>
              </a:spcAft>
              <a:buSzPts val="1800"/>
              <a:buChar char="●"/>
            </a:pPr>
            <a:r>
              <a:rPr lang="ru" u="sng">
                <a:solidFill>
                  <a:schemeClr val="hlink"/>
                </a:solidFill>
                <a:hlinkClick r:id="rId5"/>
              </a:rPr>
              <a:t>https://colab.research.google.com/drive/1lW_fBux71x5wvX-mb-GVRW80feNqmQao</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000000"/>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000000"/>
      </a:dk2>
      <a:lt2>
        <a:srgbClr val="EEEEEE"/>
      </a:lt2>
      <a:accent1>
        <a:srgbClr val="4285F4"/>
      </a:accent1>
      <a:accent2>
        <a:srgbClr val="212121"/>
      </a:accent2>
      <a:accent3>
        <a:srgbClr val="000000"/>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000000"/>
      </a:dk2>
      <a:lt2>
        <a:srgbClr val="EEEEEE"/>
      </a:lt2>
      <a:accent1>
        <a:srgbClr val="4285F4"/>
      </a:accent1>
      <a:accent2>
        <a:srgbClr val="000000"/>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